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engineers to the AI Workflow onboarding. This system gives Claude AI the ability to actually DO things - not just answer questions, but execute actions across your entire development stack.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the project, let's establish a baseline. An LLM like Claude is essentially a very sophisticated pattern matching system trained on text. It can understand context, reason about problems, and generate responses. But out of the box, it has limitations - it forgets between sessions and can only talk, not 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people start here - asking questions in natural language. The quality of the response directly correlates to the quality of the prompt. Vague prompts get vague answers. This works, but it's inefficient for repeated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Experienced users learn to structure their prompts. By setting a role, providing context, defining constraints, and specifying output format, you get much more useful responses. But this takes effort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databases solve the consistency problem. Instead of crafting prompts each time, you use pre-built commands. We have 66 slash commands covering daily workflows, development, review, deployment, and incident response. Same quality every time, no effort required.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insight. Traditional AI can only talk - it explains how to do things but can't do them itself. MCP bridges this gap by giving Claude access to tools - functions it can call to take real action. This transforms Claude from an advisor into an executor.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intuitive approach might be to create separate AI agents for each domain. But this creates significant complexity - you need coordination, state sharing, and handoff logic. It's expensive and error-prone.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practical constraint - IDEs and Claude itself have limits on how many tools can be loaded. We have 263 tools, but we can only expose about 80 at a time. We need a way to dynamically select which tools are relevant.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elegant - instead of multiple agents, we have one Claude that can wear different hats. Each persona is just a different tool configuration. When you say "load DevOps agent," we swap out the developer tools for DevOps tools. Same AI, different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five main personas, each optimized for a different workflow. Developer for day-to-day coding, DevOps for infrastructure work, Incident for production issues, Release for shipping, and Slack for our autonomous bot. All stay under the tool limit while providing focused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loading process is seamless. You just ask Claude to load a different persona, and within seconds the tools swap out. The IDE gets notified and refreshes its tool list. You can switch between personas as often as needed without restarting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solve the orchestration problem. Instead of manually calling multiple tools, you define a workflow once and reuse it. Skills can include logic - if this fails, do that. They're defined in YAML so they're easy to read and modify.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skill engine is built on FastMCP and provides powerful orchestration. Templates let you pass data between steps. Conditions let you branch based on results. Compute steps let you transform data with Python. Error handling ensures graceful failure.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concrete example. The start_work skill takes an issue key, fetches the details, generates a branch name, creates the branch, and updates Jira. All in one command. The YAML is readable and maintainable.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55 production-ready skills covering the full development lifecycle. From morning coffee briefings to end-of-day summaries, from starting work to releasing to production. Every skill is tested and includes automatic error recovery.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are accessible in whatever way is most natural. In conversation, just describe what you want. For precision, use the tool call. For quick access, use slash commands. They all run the same underlying skill with the same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with external systems means dealing with failures. VPN disconnects, tokens expire, services go down. Traditionally, you'd have to diagnose each failure and fix it manually. This wastes time and breaks your flow.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tool in the system is wrapped with an auto-heal decorator. When a tool fails, the decorator checks the error pattern, applies the appropriate fix (VPN connect or kube login), and retries automatically. You don't even notice the failure.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learning loop ensures continuous improvement. When a tool fails, we first check if we've seen this error before. If yes, apply the known fix. If no, debug the issue, fix it, and save the fix for next time. Over time, the system gets smarter.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tools enable self-healing at a deeper level. debug_tool lets Claude analyze its own source code to find bugs. learn_tool_fix saves that knowledge permanently. The AI literally fixes itself and remembers how.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partial solution - every single tool in the system has auto-heal. Every skill retries after fixes. The result is a remarkably resilient system that handles infrastructure issues transparently.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default, every Claude session is a blank slate. This is frustrating when you're in the middle of complex work. You shouldn't have to re-explain your context every time. Memory solves this by persisting important state.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is organized into two categories. State is your current work context - what you're working on today. Learned is accumulated knowledge - patterns and fixes discovered over time. Both persist across sessions.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session_start is the first tool you call. It loads your entire context - what you were working on, what patterns have been learned, which tools are available. You're immediately productive, no re-explanation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isn't just for loading context - it actively prevents errors. Before risky operations, Claude can check for known issues. After failures, it can recall how we fixed this last time. The system gets smarter with every use.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Slack bot brings AI Workflow to where your team communicates. It monitors channels, understands intent, and responds using the same tools and skills. You can check Jira status, review PRs, or investigate alerts right from Slack.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powerful integrations. When an alert fires in a monitored channel, the bot automatically investigates - checks pod status, recent events, logs - and provides a summary with recommended actions. This dramatically speeds up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 brings AI Workflow directly into your IDE. The status bar shows at-a-glance information. The tree view gives detailed context. Commands let you run skills. Notifications keep you informed. You never have to leave your editor.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 reads directly from memory files for work context and connects to the Slack daemon via D-Bus for real-time statistics. This means the IDE always reflects the current state of your AI Workflow.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where we're heading. Imagine being in a meeting and just asking questions verbally. The AI listens, processes locally, and speaks the answer back. No typing, no context switching. This is the future we're building toward.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Speech-to-text is the first step. Modern laptops have NPUs that can run Whisper at incredible speeds - 10-20x faster than CPU. This means real-time transcription that's entirely local and private.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 goes to a local LLM. Smaller models like Mistral or Llama run well on laptops with NPU acceleration. Simple queries are answered instantly with no cloud costs. Complex queries can still escalate to Claude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step converts the text response back to speech. With NPU acceleration, this is nearly instantaneous. The complete pipeline - voice in, voice out - all happens locally on your laptop. Private, fast, and always available.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started is straightforward. Clone the repo, install with UV (fast!), configure Cursor with the MCP server, and call session_start. You're up and running in under 5 minutes.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 typical day looks like. Four commands that handle hours of administrative work. Morning briefing, starting work with proper tracking, submitting code with validation, and end-of-day wrap-up. AI handles the tedium, you focus on the code.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your resources for going deeper. The README gets you started, the reference docs cover everything in detail. CLAUDE.md is worth reading to understand what the AI "sees." And of course, reach out on Slack with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AI Foundations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Title Slide</a:t>
            </a:r>
          </a:p>
        </p:txBody>
      </p:sp>
      <p:sp>
        <p:nvSpPr>
          <p:cNvPr id="3" name="TextBox 2"/>
          <p:cNvSpPr txBox="1"/>
          <p:nvPr/>
        </p:nvSpPr>
        <p:spPr>
          <a:xfrm>
            <a:off x="457200" y="1005840"/>
            <a:ext cx="11277295" cy="457200"/>
          </a:xfrm>
          <a:prstGeom prst="rect">
            <a:avLst/>
          </a:prstGeom>
          <a:noFill/>
        </p:spPr>
        <p:txBody>
          <a:bodyPr wrap="none">
            <a:spAutoFit/>
          </a:bodyPr>
          <a:lstStyle/>
          <a:p>
            <a:pPr>
              <a:defRPr sz="2000">
                <a:solidFill>
                  <a:srgbClr val="1F2937"/>
                </a:solidFill>
              </a:defRPr>
            </a:pPr>
            <a:r>
              <a:t>Transform Claude into your personal DevOps engineer, developer assistant, and incident responder</a:t>
            </a:r>
          </a:p>
        </p:txBody>
      </p:sp>
      <p:sp>
        <p:nvSpPr>
          <p:cNvPr id="4" name="TextBox 3"/>
          <p:cNvSpPr txBox="1"/>
          <p:nvPr/>
        </p:nvSpPr>
        <p:spPr>
          <a:xfrm>
            <a:off x="457200" y="15544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Visual: Project logo or hero image with icons representing Git, Jira, Kubernetes, Slack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What is an AI Assistant?</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Key Points</a:t>
            </a:r>
          </a:p>
          <a:p>
            <a:pPr>
              <a:spcAft>
                <a:spcPts val="800"/>
              </a:spcAft>
              <a:defRPr sz="1800">
                <a:solidFill>
                  <a:srgbClr val="1F2937"/>
                </a:solidFill>
              </a:defRPr>
            </a:pPr>
            <a:r>
              <a:t>• Large Language Models (LLMs) - trained on vast amounts of text</a:t>
            </a:r>
          </a:p>
          <a:p>
            <a:pPr>
              <a:spcAft>
                <a:spcPts val="800"/>
              </a:spcAft>
              <a:defRPr sz="1800">
                <a:solidFill>
                  <a:srgbClr val="1F2937"/>
                </a:solidFill>
              </a:defRPr>
            </a:pPr>
            <a:r>
              <a:t>• Context Window - the "working memory" (~200K tokens for Claude)</a:t>
            </a:r>
          </a:p>
          <a:p>
            <a:pPr>
              <a:spcAft>
                <a:spcPts val="800"/>
              </a:spcAft>
              <a:defRPr sz="1800">
                <a:solidFill>
                  <a:srgbClr val="1F2937"/>
                </a:solidFill>
              </a:defRPr>
            </a:pPr>
            <a:r>
              <a:t>• Stateless by default - forgets everything between sessions</a:t>
            </a:r>
          </a:p>
          <a:p>
            <a:pPr>
              <a:spcAft>
                <a:spcPts val="800"/>
              </a:spcAft>
              <a:defRPr sz="1800">
                <a:solidFill>
                  <a:srgbClr val="1F2937"/>
                </a:solidFill>
              </a:defRPr>
            </a:pPr>
            <a:r>
              <a:t>• Great at understanding, reasoning, and generating text</a:t>
            </a:r>
          </a:p>
          <a:p>
            <a:pPr>
              <a:spcBef>
                <a:spcPts val="1200"/>
              </a:spcBef>
              <a:spcAft>
                <a:spcPts val="400"/>
              </a:spcAft>
              <a:defRPr sz="2000" b="1">
                <a:solidFill>
                  <a:srgbClr val="8B5CF6"/>
                </a:solidFill>
              </a:defRPr>
            </a:pPr>
            <a:r>
              <a:t>Visual: Simple diagram showing Input -&gt; LLM -&gt; Output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Basic Prompting</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Examples</a:t>
            </a:r>
          </a:p>
          <a:p>
            <a:pPr>
              <a:spcBef>
                <a:spcPts val="800"/>
              </a:spcBef>
              <a:defRPr sz="1200">
                <a:solidFill>
                  <a:srgbClr val="1F2937"/>
                </a:solidFill>
                <a:latin typeface="Courier New"/>
              </a:defRPr>
            </a:pPr>
            <a:r>
              <a:t>Bad Prompt:</a:t>
            </a:r>
            <a:br/>
            <a:r>
              <a:t>"Fix the bug"</a:t>
            </a:r>
            <a:br/>
            <a:br/>
            <a:r>
              <a:t>Better Prompt:</a:t>
            </a:r>
            <a:br/>
            <a:r>
              <a:t>"The login page shows a 500 error when submitting </a:t>
            </a:r>
            <a:br/>
            <a:r>
              <a:t>the form. The error logs show a NullPointerException </a:t>
            </a:r>
            <a:br/>
            <a:r>
              <a:t>in AuthService.java line 45. How do I fix this?"</a:t>
            </a:r>
          </a:p>
          <a:p>
            <a:pPr>
              <a:spcBef>
                <a:spcPts val="1200"/>
              </a:spcBef>
              <a:spcAft>
                <a:spcPts val="400"/>
              </a:spcAft>
              <a:defRPr sz="2000" b="1">
                <a:solidFill>
                  <a:srgbClr val="8B5CF6"/>
                </a:solidFill>
              </a:defRPr>
            </a:pPr>
            <a:r>
              <a:t>Key Points</a:t>
            </a:r>
          </a:p>
          <a:p>
            <a:pPr>
              <a:spcAft>
                <a:spcPts val="800"/>
              </a:spcAft>
              <a:defRPr sz="1800">
                <a:solidFill>
                  <a:srgbClr val="1F2937"/>
                </a:solidFill>
              </a:defRPr>
            </a:pPr>
            <a:r>
              <a:t>• More context = better answers</a:t>
            </a:r>
          </a:p>
          <a:p>
            <a:pPr>
              <a:spcAft>
                <a:spcPts val="800"/>
              </a:spcAft>
              <a:defRPr sz="1800">
                <a:solidFill>
                  <a:srgbClr val="1F2937"/>
                </a:solidFill>
              </a:defRPr>
            </a:pPr>
            <a:r>
              <a:t>• Be specific about what you want</a:t>
            </a:r>
          </a:p>
          <a:p>
            <a:pPr>
              <a:spcAft>
                <a:spcPts val="800"/>
              </a:spcAft>
              <a:defRPr sz="1800">
                <a:solidFill>
                  <a:srgbClr val="1F2937"/>
                </a:solidFill>
              </a:defRPr>
            </a:pPr>
            <a:r>
              <a:t>• Include relevant error messages, file names, versions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Better Prompting - Structure and Context</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Structured Prompt Template</a:t>
            </a:r>
          </a:p>
          <a:p>
            <a:pPr>
              <a:spcBef>
                <a:spcPts val="800"/>
              </a:spcBef>
              <a:defRPr sz="1200">
                <a:solidFill>
                  <a:srgbClr val="1F2937"/>
                </a:solidFill>
                <a:latin typeface="Courier New"/>
              </a:defRPr>
            </a:pPr>
            <a:r>
              <a:t>ROLE: You are a senior Python developer</a:t>
            </a:r>
            <a:br/>
            <a:r>
              <a:t>CONTEXT: Working on a Django REST API</a:t>
            </a:r>
            <a:br/>
            <a:r>
              <a:t>TASK: Review this authentication code</a:t>
            </a:r>
            <a:br/>
            <a:r>
              <a:t>CONSTRAINTS: Must be compatible with Python 3.10+</a:t>
            </a:r>
            <a:br/>
            <a:r>
              <a:t>FORMAT: Bullet points with code examples</a:t>
            </a:r>
          </a:p>
          <a:p>
            <a:pPr>
              <a:spcBef>
                <a:spcPts val="1200"/>
              </a:spcBef>
              <a:spcAft>
                <a:spcPts val="400"/>
              </a:spcAft>
              <a:defRPr sz="2000" b="1">
                <a:solidFill>
                  <a:srgbClr val="8B5CF6"/>
                </a:solidFill>
              </a:defRPr>
            </a:pPr>
            <a:r>
              <a:t>Key Points</a:t>
            </a:r>
          </a:p>
          <a:p>
            <a:pPr>
              <a:spcAft>
                <a:spcPts val="800"/>
              </a:spcAft>
              <a:defRPr sz="1800">
                <a:solidFill>
                  <a:srgbClr val="1F2937"/>
                </a:solidFill>
              </a:defRPr>
            </a:pPr>
            <a:r>
              <a:t>• Role setting focuses the model</a:t>
            </a:r>
          </a:p>
          <a:p>
            <a:pPr>
              <a:spcAft>
                <a:spcPts val="800"/>
              </a:spcAft>
              <a:defRPr sz="1800">
                <a:solidFill>
                  <a:srgbClr val="1F2937"/>
                </a:solidFill>
              </a:defRPr>
            </a:pPr>
            <a:r>
              <a:t>• Context provides relevant background</a:t>
            </a:r>
          </a:p>
          <a:p>
            <a:pPr>
              <a:spcAft>
                <a:spcPts val="800"/>
              </a:spcAft>
              <a:defRPr sz="1800">
                <a:solidFill>
                  <a:srgbClr val="1F2937"/>
                </a:solidFill>
              </a:defRPr>
            </a:pPr>
            <a:r>
              <a:t>• Constraints narrow the solution space</a:t>
            </a:r>
          </a:p>
          <a:p>
            <a:pPr>
              <a:spcAft>
                <a:spcPts val="800"/>
              </a:spcAft>
              <a:defRPr sz="1800">
                <a:solidFill>
                  <a:srgbClr val="1F2937"/>
                </a:solidFill>
              </a:defRPr>
            </a:pPr>
            <a:r>
              <a:t>• Format specifies desired output structure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Prompt Databases / Slash Commands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Problem: Writing good prompts is time-consuming and inconsistent</a:t>
            </a:r>
          </a:p>
          <a:p>
            <a:pPr>
              <a:spcBef>
                <a:spcPts val="1200"/>
              </a:spcBef>
              <a:spcAft>
                <a:spcPts val="400"/>
              </a:spcAft>
              <a:defRPr sz="2000" b="1">
                <a:solidFill>
                  <a:srgbClr val="8B5CF6"/>
                </a:solidFill>
              </a:defRPr>
            </a:pPr>
            <a:r>
              <a:t>The Solution: Pre-built, tested prompts as slash commands</a:t>
            </a:r>
          </a:p>
          <a:p>
            <a:pPr>
              <a:spcBef>
                <a:spcPts val="1200"/>
              </a:spcBef>
              <a:spcAft>
                <a:spcPts val="400"/>
              </a:spcAft>
              <a:defRPr sz="2000" b="1">
                <a:solidFill>
                  <a:srgbClr val="8B5CF6"/>
                </a:solidFill>
              </a:defRPr>
            </a:pPr>
            <a:r>
              <a:t>Examples from AI Workflow (66 commands)</a:t>
            </a:r>
          </a:p>
          <a:p>
            <a:pPr>
              <a:spcBef>
                <a:spcPts val="800"/>
              </a:spcBef>
              <a:defRPr sz="1400" b="1">
                <a:solidFill>
                  <a:srgbClr val="8B5CF6"/>
                </a:solidFill>
              </a:defRPr>
            </a:pPr>
            <a:r>
              <a:t>Command | What It Does</a:t>
            </a:r>
          </a:p>
          <a:p>
            <a:pPr>
              <a:defRPr sz="1400">
                <a:solidFill>
                  <a:srgbClr val="1F2937"/>
                </a:solidFill>
              </a:defRPr>
            </a:pPr>
            <a:r>
              <a:t>`/coffee` | Morning briefing - email, PRs, Jira, calendar</a:t>
            </a:r>
          </a:p>
          <a:p>
            <a:pPr>
              <a:defRPr sz="1400">
                <a:solidFill>
                  <a:srgbClr val="1F2937"/>
                </a:solidFill>
              </a:defRPr>
            </a:pPr>
            <a:r>
              <a:t>`/start-work AAP-12345` | Begin work on a Jira issue</a:t>
            </a:r>
          </a:p>
          <a:p>
            <a:pPr>
              <a:defRPr sz="1400">
                <a:solidFill>
                  <a:srgbClr val="1F2937"/>
                </a:solidFill>
              </a:defRPr>
            </a:pPr>
            <a:r>
              <a:t>`/create-mr` | Create MR with validation</a:t>
            </a:r>
          </a:p>
          <a:p>
            <a:pPr>
              <a:defRPr sz="1400">
                <a:solidFill>
                  <a:srgbClr val="1F2937"/>
                </a:solidFill>
              </a:defRPr>
            </a:pPr>
            <a:r>
              <a:t>`/deploy-ephemeral` | Deploy to test environment</a:t>
            </a:r>
          </a:p>
          <a:p>
            <a:pPr>
              <a:defRPr sz="1400">
                <a:solidFill>
                  <a:srgbClr val="1F2937"/>
                </a:solidFill>
              </a:defRPr>
            </a:pPr>
            <a:r>
              <a:t>`/investigate-alert` | Triage production alerts</a:t>
            </a:r>
          </a:p>
          <a:p>
            <a:pPr>
              <a:spcBef>
                <a:spcPts val="1200"/>
              </a:spcBef>
              <a:spcAft>
                <a:spcPts val="400"/>
              </a:spcAft>
              <a:defRPr sz="2000" b="1">
                <a:solidFill>
                  <a:srgbClr val="8B5CF6"/>
                </a:solidFill>
              </a:defRPr>
            </a:pPr>
            <a:r>
              <a:t>Visual: Screenshot of slash command picker in Cursor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From Prompts to Actions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Limitation</a:t>
            </a:r>
          </a:p>
          <a:p>
            <a:pPr>
              <a:spcAft>
                <a:spcPts val="800"/>
              </a:spcAft>
              <a:defRPr sz="1800">
                <a:solidFill>
                  <a:srgbClr val="1F2937"/>
                </a:solidFill>
              </a:defRPr>
            </a:pPr>
            <a:r>
              <a:t>• AI can explain HOW to create a Git branch</a:t>
            </a:r>
          </a:p>
          <a:p>
            <a:pPr>
              <a:spcAft>
                <a:spcPts val="800"/>
              </a:spcAft>
              <a:defRPr sz="1800">
                <a:solidFill>
                  <a:srgbClr val="1F2937"/>
                </a:solidFill>
              </a:defRPr>
            </a:pPr>
            <a:r>
              <a:t>• But it can't actually CREATE the branch</a:t>
            </a:r>
          </a:p>
          <a:p>
            <a:pPr>
              <a:spcAft>
                <a:spcPts val="800"/>
              </a:spcAft>
              <a:defRPr sz="1800">
                <a:solidFill>
                  <a:srgbClr val="1F2937"/>
                </a:solidFill>
              </a:defRPr>
            </a:pPr>
            <a:r>
              <a:t>• AI can describe Kubernetes pod status</a:t>
            </a:r>
          </a:p>
          <a:p>
            <a:pPr>
              <a:spcAft>
                <a:spcPts val="800"/>
              </a:spcAft>
              <a:defRPr sz="1800">
                <a:solidFill>
                  <a:srgbClr val="1F2937"/>
                </a:solidFill>
              </a:defRPr>
            </a:pPr>
            <a:r>
              <a:t>• But it can't actually QUERY the cluster</a:t>
            </a:r>
          </a:p>
          <a:p>
            <a:pPr>
              <a:spcBef>
                <a:spcPts val="1200"/>
              </a:spcBef>
              <a:spcAft>
                <a:spcPts val="400"/>
              </a:spcAft>
              <a:defRPr sz="2000" b="1">
                <a:solidFill>
                  <a:srgbClr val="8B5CF6"/>
                </a:solidFill>
              </a:defRPr>
            </a:pPr>
            <a:r>
              <a:t>The Solution: MCP (Model Context Protocol)</a:t>
            </a:r>
          </a:p>
          <a:p>
            <a:pPr>
              <a:spcAft>
                <a:spcPts val="800"/>
              </a:spcAft>
              <a:defRPr sz="1800">
                <a:solidFill>
                  <a:srgbClr val="1F2937"/>
                </a:solidFill>
              </a:defRPr>
            </a:pPr>
            <a:r>
              <a:t>• Standardized way to give AI tools</a:t>
            </a:r>
          </a:p>
          <a:p>
            <a:pPr>
              <a:spcAft>
                <a:spcPts val="800"/>
              </a:spcAft>
              <a:defRPr sz="1800">
                <a:solidFill>
                  <a:srgbClr val="1F2937"/>
                </a:solidFill>
              </a:defRPr>
            </a:pPr>
            <a:r>
              <a:t>• AI can call functions, not just generate text</a:t>
            </a:r>
          </a:p>
          <a:p>
            <a:pPr>
              <a:spcAft>
                <a:spcPts val="800"/>
              </a:spcAft>
              <a:defRPr sz="1800">
                <a:solidFill>
                  <a:srgbClr val="1F2937"/>
                </a:solidFill>
              </a:defRPr>
            </a:pPr>
            <a:r>
              <a:t>• Turns conversation into action</a:t>
            </a:r>
          </a:p>
          <a:p>
            <a:pPr>
              <a:spcBef>
                <a:spcPts val="1200"/>
              </a:spcBef>
              <a:spcAft>
                <a:spcPts val="400"/>
              </a:spcAft>
              <a:defRPr sz="2000" b="1">
                <a:solidFill>
                  <a:srgbClr val="8B5CF6"/>
                </a:solidFill>
              </a:defRPr>
            </a:pPr>
            <a:r>
              <a:t>Visual: Diagram showing Prompt-Only vs MCP-Enabled Claude</a:t>
            </a:r>
          </a:p>
          <a:p>
            <a:pPr>
              <a:spcBef>
                <a:spcPts val="800"/>
              </a:spcBef>
              <a:defRPr sz="1200">
                <a:solidFill>
                  <a:srgbClr val="1F2937"/>
                </a:solidFill>
                <a:latin typeface="Courier New"/>
              </a:defRPr>
            </a:pPr>
            <a:r>
              <a:t>Before MCP:                    After MCP:</a:t>
            </a:r>
            <a:br/>
            <a:r>
              <a:t>User -&gt; Claude -&gt; Text         User -&gt; Claude -&gt; MCP -&gt; Action</a:t>
            </a:r>
            <a:br/>
            <a:r>
              <a:t>"How do I..."  -&gt; Instructions "Create branch" -&gt; git_branch_create()</a:t>
            </a:r>
            <a:br/>
            <a:r>
              <a:t>                                                  -&gt; Branch created!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Why Personas Over Multiple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Multi-Agent vs Single-Agent</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Multi-Agent Approach</a:t>
            </a:r>
          </a:p>
          <a:p>
            <a:pPr>
              <a:spcAft>
                <a:spcPts val="800"/>
              </a:spcAft>
              <a:defRPr sz="1800">
                <a:solidFill>
                  <a:srgbClr val="1F2937"/>
                </a:solidFill>
              </a:defRPr>
            </a:pPr>
            <a:r>
              <a:t>• Separate AI instances for each domain</a:t>
            </a:r>
          </a:p>
          <a:p>
            <a:pPr>
              <a:spcAft>
                <a:spcPts val="800"/>
              </a:spcAft>
              <a:defRPr sz="1800">
                <a:solidFill>
                  <a:srgbClr val="1F2937"/>
                </a:solidFill>
              </a:defRPr>
            </a:pPr>
            <a:r>
              <a:t>• DevOps Agent, Developer Agent, Incident Agent</a:t>
            </a:r>
          </a:p>
          <a:p>
            <a:pPr>
              <a:spcAft>
                <a:spcPts val="800"/>
              </a:spcAft>
              <a:defRPr sz="1800">
                <a:solidFill>
                  <a:srgbClr val="1F2937"/>
                </a:solidFill>
              </a:defRPr>
            </a:pPr>
            <a:r>
              <a:t>• Coordination layer required</a:t>
            </a:r>
          </a:p>
          <a:p>
            <a:pPr>
              <a:spcAft>
                <a:spcPts val="800"/>
              </a:spcAft>
              <a:defRPr sz="1800">
                <a:solidFill>
                  <a:srgbClr val="1F2937"/>
                </a:solidFill>
              </a:defRPr>
            </a:pPr>
            <a:r>
              <a:t>• State synchronization challenges</a:t>
            </a:r>
          </a:p>
          <a:p>
            <a:pPr>
              <a:spcAft>
                <a:spcPts val="800"/>
              </a:spcAft>
              <a:defRPr sz="1800">
                <a:solidFill>
                  <a:srgbClr val="1F2937"/>
                </a:solidFill>
              </a:defRPr>
            </a:pPr>
            <a:r>
              <a:t>• Higher costs (multiple API calls)</a:t>
            </a:r>
          </a:p>
          <a:p>
            <a:pPr>
              <a:spcBef>
                <a:spcPts val="1200"/>
              </a:spcBef>
              <a:spcAft>
                <a:spcPts val="400"/>
              </a:spcAft>
              <a:defRPr sz="2000" b="1">
                <a:solidFill>
                  <a:srgbClr val="8B5CF6"/>
                </a:solidFill>
              </a:defRPr>
            </a:pPr>
            <a:r>
              <a:t>Visual: Complex diagram with multiple Claude instances, coordinators, message passing</a:t>
            </a:r>
          </a:p>
          <a:p>
            <a:pPr>
              <a:spcBef>
                <a:spcPts val="800"/>
              </a:spcBef>
              <a:defRPr sz="1200">
                <a:solidFill>
                  <a:srgbClr val="1F2937"/>
                </a:solidFill>
                <a:latin typeface="Courier New"/>
              </a:defRPr>
            </a:pPr>
            <a:r>
              <a:t>       ┌─────────────┐</a:t>
            </a:r>
            <a:br/>
            <a:r>
              <a:t>       │ Coordinator │</a:t>
            </a:r>
            <a:br/>
            <a:r>
              <a:t>       └──────┬──────┘</a:t>
            </a:r>
            <a:br/>
            <a:r>
              <a:t>    ┌─────────┼─────────┐</a:t>
            </a:r>
            <a:br/>
            <a:r>
              <a:t>    ▼         ▼         ▼</a:t>
            </a:r>
            <a:br/>
            <a:r>
              <a:t>┌───────┐ ┌───────┐ ┌───────┐</a:t>
            </a:r>
            <a:br/>
            <a:r>
              <a:t>│DevOps │ │ Dev   │ │Incident│</a:t>
            </a:r>
            <a:br/>
            <a:r>
              <a:t>│Agent  │ │Agent  │ │Agent   │</a:t>
            </a:r>
            <a:br/>
            <a:r>
              <a:t>...</a:t>
            </a:r>
          </a:p>
          <a:p>
            <a:pPr>
              <a:spcBef>
                <a:spcPts val="1200"/>
              </a:spcBef>
              <a:spcAft>
                <a:spcPts val="400"/>
              </a:spcAft>
              <a:defRPr sz="2000" b="1">
                <a:solidFill>
                  <a:srgbClr val="8B5CF6"/>
                </a:solidFill>
              </a:defRPr>
            </a:pPr>
            <a:r>
              <a:t>Problems</a:t>
            </a:r>
          </a:p>
          <a:p>
            <a:pPr>
              <a:spcAft>
                <a:spcPts val="800"/>
              </a:spcAft>
              <a:defRPr sz="1800">
                <a:solidFill>
                  <a:srgbClr val="1F2937"/>
                </a:solidFill>
              </a:defRPr>
            </a:pPr>
            <a:r>
              <a:t>• Who decides which agent handles a request?</a:t>
            </a:r>
          </a:p>
          <a:p>
            <a:pPr>
              <a:spcAft>
                <a:spcPts val="800"/>
              </a:spcAft>
              <a:defRPr sz="1800">
                <a:solidFill>
                  <a:srgbClr val="1F2937"/>
                </a:solidFill>
              </a:defRPr>
            </a:pPr>
            <a:r>
              <a:t>• How do agents share context?</a:t>
            </a:r>
          </a:p>
          <a:p>
            <a:pPr>
              <a:spcAft>
                <a:spcPts val="800"/>
              </a:spcAft>
              <a:defRPr sz="1800">
                <a:solidFill>
                  <a:srgbClr val="1F2937"/>
                </a:solidFill>
              </a:defRPr>
            </a:pPr>
            <a:r>
              <a:t>• What if a task spans multiple domains?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The 80-Tool Limit Problem</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Reality</a:t>
            </a:r>
          </a:p>
          <a:p>
            <a:pPr>
              <a:spcAft>
                <a:spcPts val="800"/>
              </a:spcAft>
              <a:defRPr sz="1800">
                <a:solidFill>
                  <a:srgbClr val="1F2937"/>
                </a:solidFill>
              </a:defRPr>
            </a:pPr>
            <a:r>
              <a:t>• Cursor IDE has a ~128 tool limit</a:t>
            </a:r>
          </a:p>
          <a:p>
            <a:pPr>
              <a:spcAft>
                <a:spcPts val="800"/>
              </a:spcAft>
              <a:defRPr sz="1800">
                <a:solidFill>
                  <a:srgbClr val="1F2937"/>
                </a:solidFill>
              </a:defRPr>
            </a:pPr>
            <a:r>
              <a:t>• Practical limit is closer to 80 tools</a:t>
            </a:r>
          </a:p>
          <a:p>
            <a:pPr>
              <a:spcAft>
                <a:spcPts val="800"/>
              </a:spcAft>
              <a:defRPr sz="1800">
                <a:solidFill>
                  <a:srgbClr val="1F2937"/>
                </a:solidFill>
              </a:defRPr>
            </a:pPr>
            <a:r>
              <a:t>• We have 263 tools across 16 modules!</a:t>
            </a:r>
          </a:p>
          <a:p>
            <a:pPr>
              <a:spcAft>
                <a:spcPts val="800"/>
              </a:spcAft>
              <a:defRPr sz="1800">
                <a:solidFill>
                  <a:srgbClr val="1F2937"/>
                </a:solidFill>
              </a:defRPr>
            </a:pPr>
            <a:r>
              <a:t>• Loading all tools would exceed limits and flood context</a:t>
            </a:r>
          </a:p>
          <a:p>
            <a:pPr>
              <a:spcBef>
                <a:spcPts val="1200"/>
              </a:spcBef>
              <a:spcAft>
                <a:spcPts val="400"/>
              </a:spcAft>
              <a:defRPr sz="2000" b="1">
                <a:solidFill>
                  <a:srgbClr val="8B5CF6"/>
                </a:solidFill>
              </a:defRPr>
            </a:pPr>
            <a:r>
              <a:t>Why It Matters</a:t>
            </a:r>
          </a:p>
          <a:p>
            <a:pPr>
              <a:spcAft>
                <a:spcPts val="800"/>
              </a:spcAft>
              <a:defRPr sz="1800">
                <a:solidFill>
                  <a:srgbClr val="1F2937"/>
                </a:solidFill>
              </a:defRPr>
            </a:pPr>
            <a:r>
              <a:t>• Each tool takes up context window space</a:t>
            </a:r>
          </a:p>
          <a:p>
            <a:pPr>
              <a:spcAft>
                <a:spcPts val="800"/>
              </a:spcAft>
              <a:defRPr sz="1800">
                <a:solidFill>
                  <a:srgbClr val="1F2937"/>
                </a:solidFill>
              </a:defRPr>
            </a:pPr>
            <a:r>
              <a:t>• Too many tools = confused model</a:t>
            </a:r>
          </a:p>
          <a:p>
            <a:pPr>
              <a:spcAft>
                <a:spcPts val="800"/>
              </a:spcAft>
              <a:defRPr sz="1800">
                <a:solidFill>
                  <a:srgbClr val="1F2937"/>
                </a:solidFill>
              </a:defRPr>
            </a:pPr>
            <a:r>
              <a:t>• Tool descriptions add up quickly</a:t>
            </a:r>
          </a:p>
          <a:p>
            <a:pPr>
              <a:spcBef>
                <a:spcPts val="1200"/>
              </a:spcBef>
              <a:spcAft>
                <a:spcPts val="400"/>
              </a:spcAft>
              <a:defRPr sz="2000" b="1">
                <a:solidFill>
                  <a:srgbClr val="8B5CF6"/>
                </a:solidFill>
              </a:defRPr>
            </a:pPr>
            <a:r>
              <a:t>Visual: Bar chart showing tool counts by module</a:t>
            </a:r>
          </a:p>
          <a:p>
            <a:pPr>
              <a:spcBef>
                <a:spcPts val="800"/>
              </a:spcBef>
              <a:defRPr sz="1400" b="1">
                <a:solidFill>
                  <a:srgbClr val="8B5CF6"/>
                </a:solidFill>
              </a:defRPr>
            </a:pPr>
            <a:r>
              <a:t>Module | Tools</a:t>
            </a:r>
          </a:p>
          <a:p>
            <a:pPr>
              <a:defRPr sz="1400">
                <a:solidFill>
                  <a:srgbClr val="1F2937"/>
                </a:solidFill>
              </a:defRPr>
            </a:pPr>
            <a:r>
              <a:t>git | 30</a:t>
            </a:r>
          </a:p>
          <a:p>
            <a:pPr>
              <a:defRPr sz="1400">
                <a:solidFill>
                  <a:srgbClr val="1F2937"/>
                </a:solidFill>
              </a:defRPr>
            </a:pPr>
            <a:r>
              <a:t>gitlab | 30</a:t>
            </a:r>
          </a:p>
          <a:p>
            <a:pPr>
              <a:defRPr sz="1400">
                <a:solidFill>
                  <a:srgbClr val="1F2937"/>
                </a:solidFill>
              </a:defRPr>
            </a:pPr>
            <a:r>
              <a:t>jira | 28</a:t>
            </a:r>
          </a:p>
          <a:p>
            <a:pPr>
              <a:defRPr sz="1400">
                <a:solidFill>
                  <a:srgbClr val="1F2937"/>
                </a:solidFill>
              </a:defRPr>
            </a:pPr>
            <a:r>
              <a:t>k8s | 28</a:t>
            </a:r>
          </a:p>
          <a:p>
            <a:pPr>
              <a:defRPr sz="1400">
                <a:solidFill>
                  <a:srgbClr val="1F2937"/>
                </a:solidFill>
              </a:defRPr>
            </a:pPr>
            <a:r>
              <a:t>konflux | 35</a:t>
            </a:r>
          </a:p>
          <a:p>
            <a:pPr>
              <a:defRPr sz="1400">
                <a:solidFill>
                  <a:srgbClr val="1F2937"/>
                </a:solidFill>
              </a:defRPr>
            </a:pPr>
            <a:r>
              <a:t>bonfire | 20</a:t>
            </a:r>
          </a:p>
          <a:p>
            <a:pPr>
              <a:defRPr sz="1400">
                <a:solidFill>
                  <a:srgbClr val="1F2937"/>
                </a:solidFill>
              </a:defRPr>
            </a:pPr>
            <a:r>
              <a:t>... | ...</a:t>
            </a:r>
          </a:p>
          <a:p>
            <a:pPr>
              <a:defRPr sz="1400">
                <a:solidFill>
                  <a:srgbClr val="1F2937"/>
                </a:solidFill>
              </a:defRPr>
            </a:pPr>
            <a:r>
              <a:t>**Total** | **263**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Solution - Dynamic Personas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Insight: One Claude, Different "Hats"</a:t>
            </a:r>
          </a:p>
          <a:p>
            <a:pPr>
              <a:spcBef>
                <a:spcPts val="1200"/>
              </a:spcBef>
              <a:spcAft>
                <a:spcPts val="400"/>
              </a:spcAft>
              <a:defRPr sz="2000" b="1">
                <a:solidFill>
                  <a:srgbClr val="8B5CF6"/>
                </a:solidFill>
              </a:defRPr>
            </a:pPr>
            <a:r>
              <a:t>How It Works</a:t>
            </a:r>
          </a:p>
          <a:p>
            <a:pPr>
              <a:spcAft>
                <a:spcPts val="800"/>
              </a:spcAft>
              <a:defRPr sz="1800">
                <a:solidFill>
                  <a:srgbClr val="1F2937"/>
                </a:solidFill>
              </a:defRPr>
            </a:pPr>
            <a:r>
              <a:t>• Single Claude instance (single-agent)</a:t>
            </a:r>
          </a:p>
          <a:p>
            <a:pPr>
              <a:spcAft>
                <a:spcPts val="800"/>
              </a:spcAft>
              <a:defRPr sz="1800">
                <a:solidFill>
                  <a:srgbClr val="1F2937"/>
                </a:solidFill>
              </a:defRPr>
            </a:pPr>
            <a:r>
              <a:t>• Personas are tool configuration profiles</a:t>
            </a:r>
          </a:p>
          <a:p>
            <a:pPr>
              <a:spcAft>
                <a:spcPts val="800"/>
              </a:spcAft>
              <a:defRPr sz="1800">
                <a:solidFill>
                  <a:srgbClr val="1F2937"/>
                </a:solidFill>
              </a:defRPr>
            </a:pPr>
            <a:r>
              <a:t>• "Loading an agent" = changing available tools</a:t>
            </a:r>
          </a:p>
          <a:p>
            <a:pPr>
              <a:spcAft>
                <a:spcPts val="800"/>
              </a:spcAft>
              <a:defRPr sz="1800">
                <a:solidFill>
                  <a:srgbClr val="1F2937"/>
                </a:solidFill>
              </a:defRPr>
            </a:pPr>
            <a:r>
              <a:t>• No coordination complexity</a:t>
            </a:r>
          </a:p>
          <a:p>
            <a:pPr>
              <a:spcAft>
                <a:spcPts val="800"/>
              </a:spcAft>
              <a:defRPr sz="1800">
                <a:solidFill>
                  <a:srgbClr val="1F2937"/>
                </a:solidFill>
              </a:defRPr>
            </a:pPr>
            <a:r>
              <a:t>• Instant context switching</a:t>
            </a:r>
          </a:p>
          <a:p>
            <a:pPr>
              <a:spcBef>
                <a:spcPts val="1200"/>
              </a:spcBef>
              <a:spcAft>
                <a:spcPts val="400"/>
              </a:spcAft>
              <a:defRPr sz="2000" b="1">
                <a:solidFill>
                  <a:srgbClr val="8B5CF6"/>
                </a:solidFill>
              </a:defRPr>
            </a:pPr>
            <a:r>
              <a:t>Visual: Single Claude with interchangeable tool sets</a:t>
            </a:r>
          </a:p>
          <a:p>
            <a:pPr>
              <a:spcBef>
                <a:spcPts val="800"/>
              </a:spcBef>
              <a:defRPr sz="1200">
                <a:solidFill>
                  <a:srgbClr val="1F2937"/>
                </a:solidFill>
                <a:latin typeface="Courier New"/>
              </a:defRPr>
            </a:pPr>
            <a:r>
              <a:t>            ┌─────────────────┐</a:t>
            </a:r>
            <a:br/>
            <a:r>
              <a:t>            │     Claude      │</a:t>
            </a:r>
            <a:br/>
            <a:r>
              <a:t>            │  (Single Agent) │</a:t>
            </a:r>
            <a:br/>
            <a:r>
              <a:t>            └────────┬────────┘</a:t>
            </a:r>
            <a:br/>
            <a:r>
              <a:t>                     │</a:t>
            </a:r>
            <a:br/>
            <a:r>
              <a:t>        ┌────────────┼────────────┐</a:t>
            </a:r>
            <a:br/>
            <a:r>
              <a:t>        ▼            ▼            ▼</a:t>
            </a:r>
            <a:br/>
            <a:r>
              <a:t>   ┌─────────┐  ┌─────────┐  ┌─────────┐</a:t>
            </a:r>
            <a:b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Persona Examples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800"/>
              </a:spcBef>
              <a:defRPr sz="1400" b="1">
                <a:solidFill>
                  <a:srgbClr val="8B5CF6"/>
                </a:solidFill>
              </a:defRPr>
            </a:pPr>
            <a:r>
              <a:t>Persona | Focus | Tool Count | Key Modules</a:t>
            </a:r>
          </a:p>
          <a:p>
            <a:pPr>
              <a:defRPr sz="1400">
                <a:solidFill>
                  <a:srgbClr val="1F2937"/>
                </a:solidFill>
              </a:defRPr>
            </a:pPr>
            <a:r>
              <a:t>👨‍💻 Developer | Coding, PRs | ~78 | git, gitlab, jira</a:t>
            </a:r>
          </a:p>
          <a:p>
            <a:pPr>
              <a:defRPr sz="1400">
                <a:solidFill>
                  <a:srgbClr val="1F2937"/>
                </a:solidFill>
              </a:defRPr>
            </a:pPr>
            <a:r>
              <a:t>🔧 DevOps | Deployments, K8s | ~74 | k8s, bonfire, quay</a:t>
            </a:r>
          </a:p>
          <a:p>
            <a:pPr>
              <a:defRPr sz="1400">
                <a:solidFill>
                  <a:srgbClr val="1F2937"/>
                </a:solidFill>
              </a:defRPr>
            </a:pPr>
            <a:r>
              <a:t>🚨 Incident | Production issues | ~78 | k8s, prometheus, alertmanager</a:t>
            </a:r>
          </a:p>
          <a:p>
            <a:pPr>
              <a:defRPr sz="1400">
                <a:solidFill>
                  <a:srgbClr val="1F2937"/>
                </a:solidFill>
              </a:defRPr>
            </a:pPr>
            <a:r>
              <a:t>📦 Release | Shipping | ~91 | konflux, quay, git</a:t>
            </a:r>
          </a:p>
          <a:p>
            <a:pPr>
              <a:defRPr sz="1400">
                <a:solidFill>
                  <a:srgbClr val="1F2937"/>
                </a:solidFill>
              </a:defRPr>
            </a:pPr>
            <a:r>
              <a:t>💬 Slack | Autonomous bot | ~85 | slack, jira, gitlab</a:t>
            </a:r>
          </a:p>
          <a:p>
            <a:pPr>
              <a:spcBef>
                <a:spcPts val="1200"/>
              </a:spcBef>
              <a:spcAft>
                <a:spcPts val="400"/>
              </a:spcAft>
              <a:defRPr sz="2000" b="1">
                <a:solidFill>
                  <a:srgbClr val="8B5CF6"/>
                </a:solidFill>
              </a:defRPr>
            </a:pPr>
            <a:r>
              <a:t>All personas include</a:t>
            </a:r>
          </a:p>
          <a:p>
            <a:pPr>
              <a:spcAft>
                <a:spcPts val="800"/>
              </a:spcAft>
              <a:defRPr sz="1800">
                <a:solidFill>
                  <a:srgbClr val="1F2937"/>
                </a:solidFill>
              </a:defRPr>
            </a:pPr>
            <a:r>
              <a:t>• Core workflow tools (memory, skills, session)</a:t>
            </a:r>
          </a:p>
          <a:p>
            <a:pPr>
              <a:spcAft>
                <a:spcPts val="800"/>
              </a:spcAft>
              <a:defRPr sz="1800">
                <a:solidFill>
                  <a:srgbClr val="1F2937"/>
                </a:solidFill>
              </a:defRPr>
            </a:pPr>
            <a:r>
              <a:t>• Jira tools (issue tracking is universal)</a:t>
            </a:r>
          </a:p>
          <a:p>
            <a:pPr>
              <a:spcAft>
                <a:spcPts val="800"/>
              </a:spcAft>
              <a:defRPr sz="1800">
                <a:solidFill>
                  <a:srgbClr val="1F2937"/>
                </a:solidFill>
              </a:defRPr>
            </a:pPr>
            <a:r>
              <a:t>• Auto-heal infrastructure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How Persona Loading Works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Sequence</a:t>
            </a:r>
          </a:p>
          <a:p>
            <a:pPr>
              <a:spcBef>
                <a:spcPts val="800"/>
              </a:spcBef>
              <a:defRPr sz="1200">
                <a:solidFill>
                  <a:srgbClr val="1F2937"/>
                </a:solidFill>
                <a:latin typeface="Courier New"/>
              </a:defRPr>
            </a:pPr>
            <a:r>
              <a:t>1. User: "Load the devops agent"</a:t>
            </a:r>
            <a:br/>
            <a:br/>
            <a:r>
              <a:t>2. Claude calls: persona_load("devops")</a:t>
            </a:r>
            <a:br/>
            <a:br/>
            <a:r>
              <a:t>3. MCP Server:</a:t>
            </a:r>
            <a:br/>
            <a:r>
              <a:t>   - Unloads current tools (git, gitlab, jira)</a:t>
            </a:r>
            <a:br/>
            <a:r>
              <a:t>   - Loads new tools (k8s, bonfire, quay, jira)</a:t>
            </a:r>
            <a:br/>
            <a:r>
              <a:t>   - Sends tools/list_changed notification</a:t>
            </a:r>
            <a:br/>
            <a:r>
              <a:t>...</a:t>
            </a:r>
          </a:p>
          <a:p>
            <a:pPr>
              <a:spcBef>
                <a:spcPts val="1200"/>
              </a:spcBef>
              <a:spcAft>
                <a:spcPts val="400"/>
              </a:spcAft>
              <a:defRPr sz="2000" b="1">
                <a:solidFill>
                  <a:srgbClr val="8B5CF6"/>
                </a:solidFill>
              </a:defRPr>
            </a:pPr>
            <a:r>
              <a:t>Visual: Sequence diagram (mermaid source provided in appendix)</a:t>
            </a:r>
          </a:p>
          <a:p>
            <a:pPr>
              <a:spcBef>
                <a:spcPts val="1200"/>
              </a:spcBef>
              <a:spcAft>
                <a:spcPts val="400"/>
              </a:spcAft>
              <a:defRPr sz="2000" b="1">
                <a:solidFill>
                  <a:srgbClr val="8B5CF6"/>
                </a:solidFill>
              </a:defRPr>
            </a:pPr>
            <a:r>
              <a:t>Key Point: Tools switch dynamically - no restart required!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Skills - Multi-Step Workflows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What Are Skills?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Problem</a:t>
            </a:r>
          </a:p>
          <a:p>
            <a:pPr>
              <a:spcAft>
                <a:spcPts val="800"/>
              </a:spcAft>
              <a:defRPr sz="1800">
                <a:solidFill>
                  <a:srgbClr val="1F2937"/>
                </a:solidFill>
              </a:defRPr>
            </a:pPr>
            <a:r>
              <a:t>• Many tasks require multiple tool calls in sequence</a:t>
            </a:r>
          </a:p>
          <a:p>
            <a:pPr>
              <a:spcAft>
                <a:spcPts val="800"/>
              </a:spcAft>
              <a:defRPr sz="1800">
                <a:solidFill>
                  <a:srgbClr val="1F2937"/>
                </a:solidFill>
              </a:defRPr>
            </a:pPr>
            <a:r>
              <a:t>• "Start work on issue" = view issue + create branch + update status</a:t>
            </a:r>
          </a:p>
          <a:p>
            <a:pPr>
              <a:spcAft>
                <a:spcPts val="800"/>
              </a:spcAft>
              <a:defRPr sz="1800">
                <a:solidFill>
                  <a:srgbClr val="1F2937"/>
                </a:solidFill>
              </a:defRPr>
            </a:pPr>
            <a:r>
              <a:t>• Manual orchestration is tedious and error-prone</a:t>
            </a:r>
          </a:p>
          <a:p>
            <a:pPr>
              <a:spcBef>
                <a:spcPts val="1200"/>
              </a:spcBef>
              <a:spcAft>
                <a:spcPts val="400"/>
              </a:spcAft>
              <a:defRPr sz="2000" b="1">
                <a:solidFill>
                  <a:srgbClr val="8B5CF6"/>
                </a:solidFill>
              </a:defRPr>
            </a:pPr>
            <a:r>
              <a:t>The Solution: Skills</a:t>
            </a:r>
          </a:p>
          <a:p>
            <a:pPr>
              <a:spcAft>
                <a:spcPts val="800"/>
              </a:spcAft>
              <a:defRPr sz="1800">
                <a:solidFill>
                  <a:srgbClr val="1F2937"/>
                </a:solidFill>
              </a:defRPr>
            </a:pPr>
            <a:r>
              <a:t>• YAML-defined workflows</a:t>
            </a:r>
          </a:p>
          <a:p>
            <a:pPr>
              <a:spcAft>
                <a:spcPts val="800"/>
              </a:spcAft>
              <a:defRPr sz="1800">
                <a:solidFill>
                  <a:srgbClr val="1F2937"/>
                </a:solidFill>
              </a:defRPr>
            </a:pPr>
            <a:r>
              <a:t>• Chain multiple tools together</a:t>
            </a:r>
          </a:p>
          <a:p>
            <a:pPr>
              <a:spcAft>
                <a:spcPts val="800"/>
              </a:spcAft>
              <a:defRPr sz="1800">
                <a:solidFill>
                  <a:srgbClr val="1F2937"/>
                </a:solidFill>
              </a:defRPr>
            </a:pPr>
            <a:r>
              <a:t>• Include conditions and branching</a:t>
            </a:r>
          </a:p>
          <a:p>
            <a:pPr>
              <a:spcAft>
                <a:spcPts val="800"/>
              </a:spcAft>
              <a:defRPr sz="1800">
                <a:solidFill>
                  <a:srgbClr val="1F2937"/>
                </a:solidFill>
              </a:defRPr>
            </a:pPr>
            <a:r>
              <a:t>• Handle errors gracefully</a:t>
            </a:r>
          </a:p>
          <a:p>
            <a:pPr>
              <a:spcAft>
                <a:spcPts val="800"/>
              </a:spcAft>
              <a:defRPr sz="1800">
                <a:solidFill>
                  <a:srgbClr val="1F2937"/>
                </a:solidFill>
              </a:defRPr>
            </a:pPr>
            <a:r>
              <a:t>• Template substitution (Jinja2)</a:t>
            </a:r>
          </a:p>
          <a:p>
            <a:pPr>
              <a:spcBef>
                <a:spcPts val="1200"/>
              </a:spcBef>
              <a:spcAft>
                <a:spcPts val="400"/>
              </a:spcAft>
              <a:defRPr sz="2000" b="1">
                <a:solidFill>
                  <a:srgbClr val="8B5CF6"/>
                </a:solidFill>
              </a:defRPr>
            </a:pPr>
            <a:r>
              <a:t>Visual: Simple skill flow diagram</a:t>
            </a:r>
          </a:p>
          <a:p>
            <a:pPr>
              <a:spcBef>
                <a:spcPts val="800"/>
              </a:spcBef>
              <a:defRPr sz="1200">
                <a:solidFill>
                  <a:srgbClr val="1F2937"/>
                </a:solidFill>
                <a:latin typeface="Courier New"/>
              </a:defRPr>
            </a:pPr>
            <a:r>
              <a:t>┌──────────────┐    ┌──────────────┐    ┌──────────────┐</a:t>
            </a:r>
            <a:br/>
            <a:r>
              <a:t>│ jira_view    │ -&gt; │ git_branch   │ -&gt; │ jira_set     │</a:t>
            </a:r>
            <a:br/>
            <a:r>
              <a:t>│ _issue       │    │ _create      │    │ _status      │</a:t>
            </a:r>
            <a:br/>
            <a:r>
              <a:t>└──────────────┘    └──────────────┘    └──────────────┘</a:t>
            </a:r>
            <a:br/>
            <a:r>
              <a:t>   Get details       Create branch      Mark "In Progress"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FastMCP Skill Engine</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Capabilities</a:t>
            </a:r>
          </a:p>
          <a:p>
            <a:pPr>
              <a:spcAft>
                <a:spcPts val="800"/>
              </a:spcAft>
              <a:defRPr sz="1800">
                <a:solidFill>
                  <a:srgbClr val="1F2937"/>
                </a:solidFill>
              </a:defRPr>
            </a:pPr>
            <a:r>
              <a:t>• Templating: `{{ inputs.issue_key }}` - Jinja2 syntax</a:t>
            </a:r>
          </a:p>
          <a:p>
            <a:pPr>
              <a:spcAft>
                <a:spcPts val="800"/>
              </a:spcAft>
              <a:defRPr sz="1800">
                <a:solidFill>
                  <a:srgbClr val="1F2937"/>
                </a:solidFill>
              </a:defRPr>
            </a:pPr>
            <a:r>
              <a:t>• Conditions: `condition: "step1_result.success"`</a:t>
            </a:r>
          </a:p>
          <a:p>
            <a:pPr>
              <a:spcAft>
                <a:spcPts val="800"/>
              </a:spcAft>
              <a:defRPr sz="1800">
                <a:solidFill>
                  <a:srgbClr val="1F2937"/>
                </a:solidFill>
              </a:defRPr>
            </a:pPr>
            <a:r>
              <a:t>• Compute steps: Python code for data transformation</a:t>
            </a:r>
          </a:p>
          <a:p>
            <a:pPr>
              <a:spcAft>
                <a:spcPts val="800"/>
              </a:spcAft>
              <a:defRPr sz="1800">
                <a:solidFill>
                  <a:srgbClr val="1F2937"/>
                </a:solidFill>
              </a:defRPr>
            </a:pPr>
            <a:r>
              <a:t>• Error handling: `on_error: continue | fail | retry`</a:t>
            </a:r>
          </a:p>
          <a:p>
            <a:pPr>
              <a:spcAft>
                <a:spcPts val="800"/>
              </a:spcAft>
              <a:defRPr sz="1800">
                <a:solidFill>
                  <a:srgbClr val="1F2937"/>
                </a:solidFill>
              </a:defRPr>
            </a:pPr>
            <a:r>
              <a:t>• Outputs: Pass data between steps</a:t>
            </a:r>
          </a:p>
          <a:p>
            <a:pPr>
              <a:spcBef>
                <a:spcPts val="1200"/>
              </a:spcBef>
              <a:spcAft>
                <a:spcPts val="400"/>
              </a:spcAft>
              <a:defRPr sz="2000" b="1">
                <a:solidFill>
                  <a:srgbClr val="8B5CF6"/>
                </a:solidFill>
              </a:defRPr>
            </a:pPr>
            <a:r>
              <a:t>Architecture</a:t>
            </a:r>
          </a:p>
          <a:p>
            <a:pPr>
              <a:spcBef>
                <a:spcPts val="800"/>
              </a:spcBef>
              <a:defRPr sz="1200">
                <a:solidFill>
                  <a:srgbClr val="1F2937"/>
                </a:solidFill>
                <a:latin typeface="Courier New"/>
              </a:defRPr>
            </a:pPr>
            <a:r>
              <a:t>┌─────────────────────────────────────────┐</a:t>
            </a:r>
            <a:br/>
            <a:r>
              <a:t>│           Skill YAML File               │</a:t>
            </a:r>
            <a:br/>
            <a:r>
              <a:t>│  ┌─────┐  ┌─────┐  ┌─────┐  ┌─────┐   │</a:t>
            </a:r>
            <a:br/>
            <a:r>
              <a:t>│  │Step1│-&gt;│Step2│-&gt;│Step3│-&gt;│Step4│   │</a:t>
            </a:r>
            <a:br/>
            <a:r>
              <a:t>│  └─────┘  └─────┘  └─────┘  └─────┘   │</a:t>
            </a:r>
            <a:br/>
            <a:r>
              <a:t>└─────────────────────────────────────────┘</a:t>
            </a:r>
            <a:br/>
            <a:r>
              <a:t>                    │</a:t>
            </a:r>
            <a:br/>
            <a:r>
              <a:t>                    ▼</a:t>
            </a:r>
            <a:b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Example - start_work Skill</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What it does</a:t>
            </a:r>
          </a:p>
          <a:p>
            <a:pPr>
              <a:spcBef>
                <a:spcPts val="1200"/>
              </a:spcBef>
              <a:spcAft>
                <a:spcPts val="400"/>
              </a:spcAft>
              <a:defRPr sz="2000" b="1">
                <a:solidFill>
                  <a:srgbClr val="8B5CF6"/>
                </a:solidFill>
              </a:defRPr>
            </a:pPr>
            <a:r>
              <a:t>YAML snippet</a:t>
            </a:r>
          </a:p>
          <a:p>
            <a:pPr>
              <a:spcBef>
                <a:spcPts val="800"/>
              </a:spcBef>
              <a:defRPr sz="1200">
                <a:solidFill>
                  <a:srgbClr val="1F2937"/>
                </a:solidFill>
                <a:latin typeface="Courier New"/>
              </a:defRPr>
            </a:pPr>
            <a:r>
              <a:t>name: start_work</a:t>
            </a:r>
            <a:br/>
            <a:r>
              <a:t>description: Begin working on a Jira issue</a:t>
            </a:r>
            <a:br/>
            <a:br/>
            <a:r>
              <a:t>inputs:</a:t>
            </a:r>
            <a:br/>
            <a:r>
              <a:t>  - name: issue_key</a:t>
            </a:r>
            <a:br/>
            <a:r>
              <a:t>    type: string</a:t>
            </a:r>
            <a:br/>
            <a:r>
              <a:t>    required: true</a:t>
            </a:r>
            <a:br/>
            <a:br/>
            <a: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55 Production Skills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Categories</a:t>
            </a:r>
          </a:p>
          <a:p>
            <a:pPr>
              <a:spcBef>
                <a:spcPts val="800"/>
              </a:spcBef>
              <a:defRPr sz="1400" b="1">
                <a:solidFill>
                  <a:srgbClr val="8B5CF6"/>
                </a:solidFill>
              </a:defRPr>
            </a:pPr>
            <a:r>
              <a:t>Category | Skills | Examples</a:t>
            </a:r>
          </a:p>
          <a:p>
            <a:pPr>
              <a:defRPr sz="1400">
                <a:solidFill>
                  <a:srgbClr val="1F2937"/>
                </a:solidFill>
              </a:defRPr>
            </a:pPr>
            <a:r>
              <a:t>☕ Daily Rituals | 4 | coffee, beer, standup_summary, weekly_summary</a:t>
            </a:r>
          </a:p>
          <a:p>
            <a:pPr>
              <a:defRPr sz="1400">
                <a:solidFill>
                  <a:srgbClr val="1F2937"/>
                </a:solidFill>
              </a:defRPr>
            </a:pPr>
            <a:r>
              <a:t>💻 Development | 8 | start_work, create_mr, close_issue, sync_branch</a:t>
            </a:r>
          </a:p>
          <a:p>
            <a:pPr>
              <a:defRPr sz="1400">
                <a:solidFill>
                  <a:srgbClr val="1F2937"/>
                </a:solidFill>
              </a:defRPr>
            </a:pPr>
            <a:r>
              <a:t>👀 Code Review | 6 | review_pr, check_my_prs, rebase_pr</a:t>
            </a:r>
          </a:p>
          <a:p>
            <a:pPr>
              <a:defRPr sz="1400">
                <a:solidFill>
                  <a:srgbClr val="1F2937"/>
                </a:solidFill>
              </a:defRPr>
            </a:pPr>
            <a:r>
              <a:t>🧪 Testing | 6 | test_mr_ephemeral, deploy_to_ephemeral</a:t>
            </a:r>
          </a:p>
          <a:p>
            <a:pPr>
              <a:defRPr sz="1400">
                <a:solidFill>
                  <a:srgbClr val="1F2937"/>
                </a:solidFill>
              </a:defRPr>
            </a:pPr>
            <a:r>
              <a:t>🚨 Incident | 5 | investigate_alert, debug_prod, silence_alert</a:t>
            </a:r>
          </a:p>
          <a:p>
            <a:pPr>
              <a:defRPr sz="1400">
                <a:solidFill>
                  <a:srgbClr val="1F2937"/>
                </a:solidFill>
              </a:defRPr>
            </a:pPr>
            <a:r>
              <a:t>📋 Jira | 4 | create_jira_issue, jira_hygiene</a:t>
            </a:r>
          </a:p>
          <a:p>
            <a:pPr>
              <a:defRPr sz="1400">
                <a:solidFill>
                  <a:srgbClr val="1F2937"/>
                </a:solidFill>
              </a:defRPr>
            </a:pPr>
            <a:r>
              <a:t>📦 Release | 4 | release_to_prod, konflux_status</a:t>
            </a:r>
          </a:p>
          <a:p>
            <a:pPr>
              <a:defRPr sz="1400">
                <a:solidFill>
                  <a:srgbClr val="1F2937"/>
                </a:solidFill>
              </a:defRPr>
            </a:pPr>
            <a:r>
              <a:t>🔧 Utility | 18 | memory_*, learn_pattern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Running Skills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800"/>
              </a:spcBef>
              <a:defRPr sz="1200">
                <a:solidFill>
                  <a:srgbClr val="1F2937"/>
                </a:solidFill>
                <a:latin typeface="Courier New"/>
              </a:defRPr>
            </a:pPr>
            <a:r>
              <a:t>Run the start_work skill for AAP-12345</a:t>
            </a:r>
          </a:p>
          <a:p>
            <a:pPr>
              <a:spcBef>
                <a:spcPts val="800"/>
              </a:spcBef>
              <a:defRPr sz="1200">
                <a:solidFill>
                  <a:srgbClr val="1F2937"/>
                </a:solidFill>
                <a:latin typeface="Courier New"/>
              </a:defRPr>
            </a:pPr>
            <a:r>
              <a:t>skill_run("start_work", '{"issue_key": "AAP-12345"}')</a:t>
            </a:r>
          </a:p>
          <a:p>
            <a:pPr>
              <a:spcBef>
                <a:spcPts val="800"/>
              </a:spcBef>
              <a:defRPr sz="1200">
                <a:solidFill>
                  <a:srgbClr val="1F2937"/>
                </a:solidFill>
                <a:latin typeface="Courier New"/>
              </a:defRPr>
            </a:pPr>
            <a:r>
              <a:t>/start-work AAP-12345</a:t>
            </a:r>
          </a:p>
          <a:p>
            <a:pPr>
              <a:spcBef>
                <a:spcPts val="1200"/>
              </a:spcBef>
              <a:spcAft>
                <a:spcPts val="400"/>
              </a:spcAft>
              <a:defRPr sz="2000" b="1">
                <a:solidFill>
                  <a:srgbClr val="8B5CF6"/>
                </a:solidFill>
              </a:defRPr>
            </a:pPr>
            <a:r>
              <a:t>All three methods</a:t>
            </a:r>
          </a:p>
          <a:p>
            <a:pPr>
              <a:spcAft>
                <a:spcPts val="800"/>
              </a:spcAft>
              <a:defRPr sz="1800">
                <a:solidFill>
                  <a:srgbClr val="1F2937"/>
                </a:solidFill>
              </a:defRPr>
            </a:pPr>
            <a:r>
              <a:t>• Execute the same skill</a:t>
            </a:r>
          </a:p>
          <a:p>
            <a:pPr>
              <a:spcAft>
                <a:spcPts val="800"/>
              </a:spcAft>
              <a:defRPr sz="1800">
                <a:solidFill>
                  <a:srgbClr val="1F2937"/>
                </a:solidFill>
              </a:defRPr>
            </a:pPr>
            <a:r>
              <a:t>• Include auto-heal</a:t>
            </a:r>
          </a:p>
          <a:p>
            <a:pPr>
              <a:spcAft>
                <a:spcPts val="800"/>
              </a:spcAft>
              <a:defRPr sz="1800">
                <a:solidFill>
                  <a:srgbClr val="1F2937"/>
                </a:solidFill>
              </a:defRPr>
            </a:pPr>
            <a:r>
              <a:t>• Update memory</a:t>
            </a:r>
          </a:p>
          <a:p>
            <a:pPr>
              <a:spcAft>
                <a:spcPts val="800"/>
              </a:spcAft>
              <a:defRPr sz="1800">
                <a:solidFill>
                  <a:srgbClr val="1F2937"/>
                </a:solidFill>
              </a:defRPr>
            </a:pPr>
            <a:r>
              <a:t>• Return consistent results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Auto-Remediation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The Problem - Things Break</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Common Failures</a:t>
            </a:r>
          </a:p>
          <a:p>
            <a:pPr>
              <a:spcBef>
                <a:spcPts val="800"/>
              </a:spcBef>
              <a:defRPr sz="1400" b="1">
                <a:solidFill>
                  <a:srgbClr val="8B5CF6"/>
                </a:solidFill>
              </a:defRPr>
            </a:pPr>
            <a:r>
              <a:t>Issue | Symptom | Cause</a:t>
            </a:r>
          </a:p>
          <a:p>
            <a:pPr>
              <a:defRPr sz="1400">
                <a:solidFill>
                  <a:srgbClr val="1F2937"/>
                </a:solidFill>
              </a:defRPr>
            </a:pPr>
            <a:r>
              <a:t>VPN Disconnected | "No route to host" | Network timeout</a:t>
            </a:r>
          </a:p>
          <a:p>
            <a:pPr>
              <a:defRPr sz="1400">
                <a:solidFill>
                  <a:srgbClr val="1F2937"/>
                </a:solidFill>
              </a:defRPr>
            </a:pPr>
            <a:r>
              <a:t>Token Expired | "401 Unauthorized" | Auth expired</a:t>
            </a:r>
          </a:p>
          <a:p>
            <a:pPr>
              <a:defRPr sz="1400">
                <a:solidFill>
                  <a:srgbClr val="1F2937"/>
                </a:solidFill>
              </a:defRPr>
            </a:pPr>
            <a:r>
              <a:t>Rate Limited | "429 Too Many Requests" | API throttling</a:t>
            </a:r>
          </a:p>
          <a:p>
            <a:pPr>
              <a:defRPr sz="1400">
                <a:solidFill>
                  <a:srgbClr val="1F2937"/>
                </a:solidFill>
              </a:defRPr>
            </a:pPr>
            <a:r>
              <a:t>Cluster Unreachable | "Connection refused" | Wrong cluster/config</a:t>
            </a:r>
          </a:p>
          <a:p>
            <a:pPr>
              <a:spcBef>
                <a:spcPts val="1200"/>
              </a:spcBef>
              <a:spcAft>
                <a:spcPts val="400"/>
              </a:spcAft>
              <a:defRPr sz="2000" b="1">
                <a:solidFill>
                  <a:srgbClr val="8B5CF6"/>
                </a:solidFill>
              </a:defRPr>
            </a:pPr>
            <a:r>
              <a:t>The Old Way</a:t>
            </a:r>
          </a:p>
          <a:p>
            <a:pPr>
              <a:spcBef>
                <a:spcPts val="1200"/>
              </a:spcBef>
              <a:spcAft>
                <a:spcPts val="400"/>
              </a:spcAft>
              <a:defRPr sz="2000" b="1">
                <a:solidFill>
                  <a:srgbClr val="8B5CF6"/>
                </a:solidFill>
              </a:defRPr>
            </a:pPr>
            <a:r>
              <a:t>Time wasted: 2-5 minutes per failure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Tool-Level Auto-Heal</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How It Works</a:t>
            </a:r>
          </a:p>
          <a:p>
            <a:pPr>
              <a:spcBef>
                <a:spcPts val="800"/>
              </a:spcBef>
              <a:defRPr sz="1200">
                <a:solidFill>
                  <a:srgbClr val="1F2937"/>
                </a:solidFill>
                <a:latin typeface="Courier New"/>
              </a:defRPr>
            </a:pPr>
            <a:r>
              <a:t>Tool Call → Failure → Detect Pattern → Apply Fix → Retry → Success</a:t>
            </a:r>
          </a:p>
          <a:p>
            <a:pPr>
              <a:spcBef>
                <a:spcPts val="1200"/>
              </a:spcBef>
              <a:spcAft>
                <a:spcPts val="400"/>
              </a:spcAft>
              <a:defRPr sz="2000" b="1">
                <a:solidFill>
                  <a:srgbClr val="8B5CF6"/>
                </a:solidFill>
              </a:defRPr>
            </a:pPr>
            <a:r>
              <a:t>Python Decorators</a:t>
            </a:r>
          </a:p>
          <a:p>
            <a:pPr>
              <a:spcBef>
                <a:spcPts val="800"/>
              </a:spcBef>
              <a:defRPr sz="1200">
                <a:solidFill>
                  <a:srgbClr val="1F2937"/>
                </a:solidFill>
                <a:latin typeface="Courier New"/>
              </a:defRPr>
            </a:pPr>
            <a:r>
              <a:t>from server.auto_heal_decorator import auto_heal_k8s</a:t>
            </a:r>
            <a:br/>
            <a:br/>
            <a:r>
              <a:t>@registry.tool()</a:t>
            </a:r>
            <a:br/>
            <a:r>
              <a:t>@auto_heal_k8s()</a:t>
            </a:r>
            <a:br/>
            <a:r>
              <a:t>async def kubectl_get_pods(namespace: str, environment: str = "stage"):</a:t>
            </a:r>
            <a:br/>
            <a:r>
              <a:t>    """Get pods - auto-heals VPN/auth failures."""</a:t>
            </a:r>
            <a:br/>
            <a:r>
              <a:t>    # If this fails with auth/VPN issues, the decorator</a:t>
            </a:r>
            <a:br/>
            <a:r>
              <a:t>    # automatically runs kube_login or vpn_connect and retries</a:t>
            </a:r>
            <a:br/>
            <a:r>
              <a:t>...</a:t>
            </a:r>
          </a:p>
          <a:p>
            <a:pPr>
              <a:spcBef>
                <a:spcPts val="1200"/>
              </a:spcBef>
              <a:spcAft>
                <a:spcPts val="400"/>
              </a:spcAft>
              <a:defRPr sz="2000" b="1">
                <a:solidFill>
                  <a:srgbClr val="8B5CF6"/>
                </a:solidFill>
              </a:defRPr>
            </a:pPr>
            <a:r>
              <a:t>Available Decorators</a:t>
            </a:r>
          </a:p>
          <a:p>
            <a:pPr>
              <a:spcBef>
                <a:spcPts val="800"/>
              </a:spcBef>
              <a:defRPr sz="1400" b="1">
                <a:solidFill>
                  <a:srgbClr val="8B5CF6"/>
                </a:solidFill>
              </a:defRPr>
            </a:pPr>
            <a:r>
              <a:t>Decorator | Environment | Use Case</a:t>
            </a:r>
          </a:p>
          <a:p>
            <a:pPr>
              <a:defRPr sz="1400">
                <a:solidFill>
                  <a:srgbClr val="1F2937"/>
                </a:solidFill>
              </a:defRPr>
            </a:pPr>
            <a:r>
              <a:t>`@auto_heal_ephemeral()` | Ephemeral | Bonfire tools</a:t>
            </a:r>
          </a:p>
          <a:p>
            <a:pPr>
              <a:defRPr sz="1400">
                <a:solidFill>
                  <a:srgbClr val="1F2937"/>
                </a:solidFill>
              </a:defRPr>
            </a:pPr>
            <a:r>
              <a:t>`@auto_heal_konflux()` | Konflux | Build pipelines</a:t>
            </a:r>
          </a:p>
          <a:p>
            <a:pPr>
              <a:defRPr sz="1400">
                <a:solidFill>
                  <a:srgbClr val="1F2937"/>
                </a:solidFill>
              </a:defRPr>
            </a:pPr>
            <a:r>
              <a:t>`@auto_heal_k8s()` | Stage/Prod | Kubectl tools</a:t>
            </a:r>
          </a:p>
          <a:p>
            <a:pPr>
              <a:defRPr sz="1400">
                <a:solidFill>
                  <a:srgbClr val="1F2937"/>
                </a:solidFill>
              </a:defRPr>
            </a:pPr>
            <a:r>
              <a:t>`@auto_heal_jira()` | - | Jira tools</a:t>
            </a:r>
          </a:p>
          <a:p>
            <a:pPr>
              <a:defRPr sz="1400">
                <a:solidFill>
                  <a:srgbClr val="1F2937"/>
                </a:solidFill>
              </a:defRPr>
            </a:pPr>
            <a:r>
              <a:t>`@auto_heal_git()` | - | Git/GitLab tools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The Learning Loop</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Flow</a:t>
            </a:r>
          </a:p>
          <a:p>
            <a:pPr>
              <a:spcBef>
                <a:spcPts val="800"/>
              </a:spcBef>
              <a:defRPr sz="1200">
                <a:solidFill>
                  <a:srgbClr val="1F2937"/>
                </a:solidFill>
                <a:latin typeface="Courier New"/>
              </a:defRPr>
            </a:pPr>
            <a:r>
              <a:t>┌─────────────────────────────────────────────────────────────────┐</a:t>
            </a:r>
            <a:br/>
            <a:r>
              <a:t>│                       Tool Execution                             │</a:t>
            </a:r>
            <a:br/>
            <a:r>
              <a:t>├─────────────────────────────────────────────────────────────────┤</a:t>
            </a:r>
            <a:br/>
            <a:r>
              <a:t>│                                                                  │</a:t>
            </a:r>
            <a:br/>
            <a:r>
              <a:t>│  Tool executes...                                                │</a:t>
            </a:r>
            <a:br/>
            <a:r>
              <a:t>│      ↓                                                           │</a:t>
            </a:r>
            <a:br/>
            <a:r>
              <a:t>│  ❌ FAILS                                                        │</a:t>
            </a:r>
            <a:br/>
            <a:r>
              <a:t>│      ↓                                                           │</a:t>
            </a:r>
            <a:br/>
            <a:r>
              <a:t>...</a:t>
            </a:r>
          </a:p>
          <a:p>
            <a:pPr>
              <a:spcBef>
                <a:spcPts val="1200"/>
              </a:spcBef>
              <a:spcAft>
                <a:spcPts val="400"/>
              </a:spcAft>
              <a:defRPr sz="2000" b="1">
                <a:solidFill>
                  <a:srgbClr val="8B5CF6"/>
                </a:solidFill>
              </a:defRPr>
            </a:pPr>
            <a:r>
              <a:t>Key Insight: Fixes are remembered forever - the same mistake never happens twice!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debug_tool + learn_tool_fix</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800"/>
              </a:spcBef>
              <a:defRPr sz="1200">
                <a:solidFill>
                  <a:srgbClr val="1F2937"/>
                </a:solidFill>
                <a:latin typeface="Courier New"/>
              </a:defRPr>
            </a:pPr>
            <a:r>
              <a:t>debug_tool("bonfire_deploy", "manifest unknown: image not found")</a:t>
            </a:r>
          </a:p>
          <a:p>
            <a:pPr>
              <a:spcAft>
                <a:spcPts val="800"/>
              </a:spcAft>
              <a:defRPr sz="1800">
                <a:solidFill>
                  <a:srgbClr val="1F2937"/>
                </a:solidFill>
              </a:defRPr>
            </a:pPr>
            <a:r>
              <a:t>• Source file location</a:t>
            </a:r>
          </a:p>
          <a:p>
            <a:pPr>
              <a:spcAft>
                <a:spcPts val="800"/>
              </a:spcAft>
              <a:defRPr sz="1800">
                <a:solidFill>
                  <a:srgbClr val="1F2937"/>
                </a:solidFill>
              </a:defRPr>
            </a:pPr>
            <a:r>
              <a:t>• Function code</a:t>
            </a:r>
          </a:p>
          <a:p>
            <a:pPr>
              <a:spcAft>
                <a:spcPts val="800"/>
              </a:spcAft>
              <a:defRPr sz="1800">
                <a:solidFill>
                  <a:srgbClr val="1F2937"/>
                </a:solidFill>
              </a:defRPr>
            </a:pPr>
            <a:r>
              <a:t>• Step-by-step fix instructions</a:t>
            </a:r>
          </a:p>
          <a:p>
            <a:pPr>
              <a:spcAft>
                <a:spcPts val="800"/>
              </a:spcAft>
              <a:defRPr sz="1800">
                <a:solidFill>
                  <a:srgbClr val="1F2937"/>
                </a:solidFill>
              </a:defRPr>
            </a:pPr>
            <a:r>
              <a:t>• Reminder to save the fix</a:t>
            </a:r>
          </a:p>
          <a:p>
            <a:pPr>
              <a:spcBef>
                <a:spcPts val="800"/>
              </a:spcBef>
              <a:defRPr sz="1200">
                <a:solidFill>
                  <a:srgbClr val="1F2937"/>
                </a:solidFill>
                <a:latin typeface="Courier New"/>
              </a:defRPr>
            </a:pPr>
            <a:r>
              <a:t>learn_tool_fix(</a:t>
            </a:r>
            <a:br/>
            <a:r>
              <a:t>    tool_name="bonfire_deploy",</a:t>
            </a:r>
            <a:br/>
            <a:r>
              <a:t>    error_pattern="manifest unknown",</a:t>
            </a:r>
            <a:br/>
            <a:r>
              <a:t>    root_cause="Short SHA doesn't exist in Quay",</a:t>
            </a:r>
            <a:br/>
            <a:r>
              <a:t>    fix_description="Use full 40-char SHA instead of 8-char"</a:t>
            </a:r>
            <a:br/>
            <a:r>
              <a:t>)</a:t>
            </a:r>
          </a:p>
          <a:p>
            <a:pPr>
              <a:spcBef>
                <a:spcPts val="1200"/>
              </a:spcBef>
              <a:spcAft>
                <a:spcPts val="400"/>
              </a:spcAft>
              <a:defRPr sz="2000" b="1">
                <a:solidFill>
                  <a:srgbClr val="8B5CF6"/>
                </a:solidFill>
              </a:defRPr>
            </a:pPr>
            <a:r>
              <a:t>Next time: The fix appears automatically!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Coverage</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All 263 tools have auto-heal decorators</a:t>
            </a:r>
          </a:p>
          <a:p>
            <a:pPr>
              <a:spcBef>
                <a:spcPts val="800"/>
              </a:spcBef>
              <a:defRPr sz="1400" b="1">
                <a:solidFill>
                  <a:srgbClr val="8B5CF6"/>
                </a:solidFill>
              </a:defRPr>
            </a:pPr>
            <a:r>
              <a:t>Module | Tools | Auto-Heal</a:t>
            </a:r>
          </a:p>
          <a:p>
            <a:pPr>
              <a:defRPr sz="1400">
                <a:solidFill>
                  <a:srgbClr val="1F2937"/>
                </a:solidFill>
              </a:defRPr>
            </a:pPr>
            <a:r>
              <a:t>Git tools | 30 | ✅ @auto_heal()</a:t>
            </a:r>
          </a:p>
          <a:p>
            <a:pPr>
              <a:defRPr sz="1400">
                <a:solidFill>
                  <a:srgbClr val="1F2937"/>
                </a:solidFill>
              </a:defRPr>
            </a:pPr>
            <a:r>
              <a:t>GitLab tools | 30 | ✅ @auto_heal()</a:t>
            </a:r>
          </a:p>
          <a:p>
            <a:pPr>
              <a:defRPr sz="1400">
                <a:solidFill>
                  <a:srgbClr val="1F2937"/>
                </a:solidFill>
              </a:defRPr>
            </a:pPr>
            <a:r>
              <a:t>Jira tools | 28 | ✅ @auto_heal()</a:t>
            </a:r>
          </a:p>
          <a:p>
            <a:pPr>
              <a:defRPr sz="1400">
                <a:solidFill>
                  <a:srgbClr val="1F2937"/>
                </a:solidFill>
              </a:defRPr>
            </a:pPr>
            <a:r>
              <a:t>K8s tools | 28 | ✅ @auto_heal_k8s()</a:t>
            </a:r>
          </a:p>
          <a:p>
            <a:pPr>
              <a:defRPr sz="1400">
                <a:solidFill>
                  <a:srgbClr val="1F2937"/>
                </a:solidFill>
              </a:defRPr>
            </a:pPr>
            <a:r>
              <a:t>Bonfire tools | 20 | ✅ @auto_heal_ephemeral()</a:t>
            </a:r>
          </a:p>
          <a:p>
            <a:pPr>
              <a:defRPr sz="1400">
                <a:solidFill>
                  <a:srgbClr val="1F2937"/>
                </a:solidFill>
              </a:defRPr>
            </a:pPr>
            <a:r>
              <a:t>Konflux tools | 35 | ✅ @auto_heal_konflux()</a:t>
            </a:r>
          </a:p>
          <a:p>
            <a:pPr>
              <a:defRPr sz="1400">
                <a:solidFill>
                  <a:srgbClr val="1F2937"/>
                </a:solidFill>
              </a:defRPr>
            </a:pPr>
            <a:r>
              <a:t>Prometheus tools | 13 | ✅ @auto_heal()</a:t>
            </a:r>
          </a:p>
          <a:p>
            <a:pPr>
              <a:defRPr sz="1400">
                <a:solidFill>
                  <a:srgbClr val="1F2937"/>
                </a:solidFill>
              </a:defRPr>
            </a:pPr>
            <a:r>
              <a:t>Alertmanager tools | 7 | ✅ @auto_heal()</a:t>
            </a:r>
          </a:p>
          <a:p>
            <a:pPr>
              <a:defRPr sz="1400">
                <a:solidFill>
                  <a:srgbClr val="1F2937"/>
                </a:solidFill>
              </a:defRPr>
            </a:pPr>
            <a:r>
              <a:t>... | ... | ✅</a:t>
            </a:r>
          </a:p>
          <a:p>
            <a:pPr>
              <a:spcBef>
                <a:spcPts val="1200"/>
              </a:spcBef>
              <a:spcAft>
                <a:spcPts val="400"/>
              </a:spcAft>
              <a:defRPr sz="2000" b="1">
                <a:solidFill>
                  <a:srgbClr val="8B5CF6"/>
                </a:solidFill>
              </a:defRPr>
            </a:pPr>
            <a:r>
              <a:t>Result: Seamless experience even when infrastructure is flaky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Memory - Consistency Across Sessions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Why Memory Matters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Problem</a:t>
            </a:r>
          </a:p>
          <a:p>
            <a:pPr>
              <a:spcAft>
                <a:spcPts val="800"/>
              </a:spcAft>
              <a:defRPr sz="1800">
                <a:solidFill>
                  <a:srgbClr val="1F2937"/>
                </a:solidFill>
              </a:defRPr>
            </a:pPr>
            <a:r>
              <a:t>• Claude is stateless by default</a:t>
            </a:r>
          </a:p>
          <a:p>
            <a:pPr>
              <a:spcAft>
                <a:spcPts val="800"/>
              </a:spcAft>
              <a:defRPr sz="1800">
                <a:solidFill>
                  <a:srgbClr val="1F2937"/>
                </a:solidFill>
              </a:defRPr>
            </a:pPr>
            <a:r>
              <a:t>• Each session starts fresh</a:t>
            </a:r>
          </a:p>
          <a:p>
            <a:pPr>
              <a:spcAft>
                <a:spcPts val="800"/>
              </a:spcAft>
              <a:defRPr sz="1800">
                <a:solidFill>
                  <a:srgbClr val="1F2937"/>
                </a:solidFill>
              </a:defRPr>
            </a:pPr>
            <a:r>
              <a:t>• Context is lost between conversations</a:t>
            </a:r>
          </a:p>
          <a:p>
            <a:pPr>
              <a:spcAft>
                <a:spcPts val="800"/>
              </a:spcAft>
              <a:defRPr sz="1800">
                <a:solidFill>
                  <a:srgbClr val="1F2937"/>
                </a:solidFill>
              </a:defRPr>
            </a:pPr>
            <a:r>
              <a:t>• "What was I working on?" - You have to explain every time</a:t>
            </a:r>
          </a:p>
          <a:p>
            <a:pPr>
              <a:spcBef>
                <a:spcPts val="1200"/>
              </a:spcBef>
              <a:spcAft>
                <a:spcPts val="400"/>
              </a:spcAft>
              <a:defRPr sz="2000" b="1">
                <a:solidFill>
                  <a:srgbClr val="8B5CF6"/>
                </a:solidFill>
              </a:defRPr>
            </a:pPr>
            <a:r>
              <a:t>What We Need</a:t>
            </a:r>
          </a:p>
          <a:p>
            <a:pPr>
              <a:spcAft>
                <a:spcPts val="800"/>
              </a:spcAft>
              <a:defRPr sz="1800">
                <a:solidFill>
                  <a:srgbClr val="1F2937"/>
                </a:solidFill>
              </a:defRPr>
            </a:pPr>
            <a:r>
              <a:t>• Track current work (issues, branches, MRs)</a:t>
            </a:r>
          </a:p>
          <a:p>
            <a:pPr>
              <a:spcAft>
                <a:spcPts val="800"/>
              </a:spcAft>
              <a:defRPr sz="1800">
                <a:solidFill>
                  <a:srgbClr val="1F2937"/>
                </a:solidFill>
              </a:defRPr>
            </a:pPr>
            <a:r>
              <a:t>• Remember learned patterns</a:t>
            </a:r>
          </a:p>
          <a:p>
            <a:pPr>
              <a:spcAft>
                <a:spcPts val="800"/>
              </a:spcAft>
              <a:defRPr sz="1800">
                <a:solidFill>
                  <a:srgbClr val="1F2937"/>
                </a:solidFill>
              </a:defRPr>
            </a:pPr>
            <a:r>
              <a:t>• Maintain session continuity</a:t>
            </a:r>
          </a:p>
          <a:p>
            <a:pPr>
              <a:spcAft>
                <a:spcPts val="800"/>
              </a:spcAft>
              <a:defRPr sz="1800">
                <a:solidFill>
                  <a:srgbClr val="1F2937"/>
                </a:solidFill>
              </a:defRPr>
            </a:pPr>
            <a:r>
              <a:t>• Prevent repeated mistakes</a:t>
            </a:r>
          </a:p>
          <a:p>
            <a:pPr>
              <a:spcBef>
                <a:spcPts val="1200"/>
              </a:spcBef>
              <a:spcAft>
                <a:spcPts val="400"/>
              </a:spcAft>
              <a:defRPr sz="2000" b="1">
                <a:solidFill>
                  <a:srgbClr val="8B5CF6"/>
                </a:solidFill>
              </a:defRPr>
            </a:pPr>
            <a:r>
              <a:t>Visual: Session 1 context being lost, Session 2 starting fresh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Memory Structure</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Two Categories</a:t>
            </a:r>
          </a:p>
          <a:p>
            <a:pPr>
              <a:spcBef>
                <a:spcPts val="800"/>
              </a:spcBef>
              <a:defRPr sz="1200">
                <a:solidFill>
                  <a:srgbClr val="1F2937"/>
                </a:solidFill>
                <a:latin typeface="Courier New"/>
              </a:defRPr>
            </a:pPr>
            <a:r>
              <a:t>memory/</a:t>
            </a:r>
            <a:br/>
            <a:r>
              <a:t>├── state/                    # Current work context</a:t>
            </a:r>
            <a:br/>
            <a:r>
              <a:t>│   ├── current_work.yaml     # Active issues, branches, MRs</a:t>
            </a:r>
            <a:br/>
            <a:r>
              <a:t>│   └── environments.yaml     # Stage/prod health status</a:t>
            </a:r>
            <a:br/>
            <a:r>
              <a:t>│</a:t>
            </a:r>
            <a:br/>
            <a:r>
              <a:t>└── learned/                  # Accumulated knowledge</a:t>
            </a:r>
            <a:br/>
            <a:r>
              <a:t>    ├── patterns.yaml         # Error patterns &amp; solutions</a:t>
            </a:r>
            <a:br/>
            <a:r>
              <a:t>    ├── tool_fixes.yaml       # Tool-specific fixes</a:t>
            </a:r>
            <a:br/>
            <a:r>
              <a:t>...</a:t>
            </a:r>
          </a:p>
          <a:p>
            <a:pPr>
              <a:spcBef>
                <a:spcPts val="1200"/>
              </a:spcBef>
              <a:spcAft>
                <a:spcPts val="400"/>
              </a:spcAft>
              <a:defRPr sz="2000" b="1">
                <a:solidFill>
                  <a:srgbClr val="8B5CF6"/>
                </a:solidFill>
              </a:defRPr>
            </a:pPr>
            <a:r>
              <a:t>State: What you're working on right now</a:t>
            </a:r>
          </a:p>
          <a:p>
            <a:pPr>
              <a:spcBef>
                <a:spcPts val="1200"/>
              </a:spcBef>
              <a:spcAft>
                <a:spcPts val="400"/>
              </a:spcAft>
              <a:defRPr sz="2000" b="1">
                <a:solidFill>
                  <a:srgbClr val="8B5CF6"/>
                </a:solidFill>
              </a:defRPr>
            </a:pPr>
            <a:r>
              <a:t>Learned: Knowledge accumulated over time</a:t>
            </a:r>
          </a:p>
          <a:p>
            <a:pPr>
              <a:spcBef>
                <a:spcPts val="1200"/>
              </a:spcBef>
              <a:spcAft>
                <a:spcPts val="400"/>
              </a:spcAft>
              <a:defRPr sz="2000" b="1">
                <a:solidFill>
                  <a:srgbClr val="8B5CF6"/>
                </a:solidFill>
              </a:defRPr>
            </a:pPr>
            <a:r>
              <a:t>Visual: Two boxes - "State (ephemeral)" and "Learned (permanent)"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Session Continuity</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800"/>
              </a:spcBef>
              <a:defRPr sz="1200">
                <a:solidFill>
                  <a:srgbClr val="1F2937"/>
                </a:solidFill>
                <a:latin typeface="Courier New"/>
              </a:defRPr>
            </a:pPr>
            <a:r>
              <a:t>session_start(agent="developer")</a:t>
            </a:r>
          </a:p>
          <a:p>
            <a:pPr>
              <a:spcBef>
                <a:spcPts val="1200"/>
              </a:spcBef>
              <a:spcAft>
                <a:spcPts val="400"/>
              </a:spcAft>
              <a:defRPr sz="2000" b="1">
                <a:solidFill>
                  <a:srgbClr val="8B5CF6"/>
                </a:solidFill>
              </a:defRPr>
            </a:pPr>
            <a:r>
              <a:t>What It Loads</a:t>
            </a:r>
          </a:p>
          <a:p>
            <a:pPr>
              <a:spcAft>
                <a:spcPts val="800"/>
              </a:spcAft>
              <a:defRPr sz="1800">
                <a:solidFill>
                  <a:srgbClr val="1F2937"/>
                </a:solidFill>
              </a:defRPr>
            </a:pPr>
            <a:r>
              <a:t>• ✅ Current work state (active issues, branches, MRs)</a:t>
            </a:r>
          </a:p>
          <a:p>
            <a:pPr>
              <a:spcAft>
                <a:spcPts val="800"/>
              </a:spcAft>
              <a:defRPr sz="1800">
                <a:solidFill>
                  <a:srgbClr val="1F2937"/>
                </a:solidFill>
              </a:defRPr>
            </a:pPr>
            <a:r>
              <a:t>• ✅ Today's session history (if resuming)</a:t>
            </a:r>
          </a:p>
          <a:p>
            <a:pPr>
              <a:spcAft>
                <a:spcPts val="800"/>
              </a:spcAft>
              <a:defRPr sz="1800">
                <a:solidFill>
                  <a:srgbClr val="1F2937"/>
                </a:solidFill>
              </a:defRPr>
            </a:pPr>
            <a:r>
              <a:t>• ✅ Learned patterns (count by category)</a:t>
            </a:r>
          </a:p>
          <a:p>
            <a:pPr>
              <a:spcAft>
                <a:spcPts val="800"/>
              </a:spcAft>
              <a:defRPr sz="1800">
                <a:solidFill>
                  <a:srgbClr val="1F2937"/>
                </a:solidFill>
              </a:defRPr>
            </a:pPr>
            <a:r>
              <a:t>• ✅ Agent persona with tools</a:t>
            </a:r>
          </a:p>
          <a:p>
            <a:pPr>
              <a:spcBef>
                <a:spcPts val="1200"/>
              </a:spcBef>
              <a:spcAft>
                <a:spcPts val="400"/>
              </a:spcAft>
              <a:defRPr sz="2000" b="1">
                <a:solidFill>
                  <a:srgbClr val="8B5CF6"/>
                </a:solidFill>
              </a:defRPr>
            </a:pPr>
            <a:r>
              <a:t>Example Output</a:t>
            </a:r>
          </a:p>
          <a:p>
            <a:pPr>
              <a:spcBef>
                <a:spcPts val="800"/>
              </a:spcBef>
              <a:defRPr sz="1200">
                <a:solidFill>
                  <a:srgbClr val="1F2937"/>
                </a:solidFill>
                <a:latin typeface="Courier New"/>
              </a:defRPr>
            </a:pPr>
            <a:r>
              <a:t>📋 Session Started</a:t>
            </a:r>
            <a:br/>
            <a:r>
              <a:t>🧠 Learned Patterns: 12 patterns loaded</a:t>
            </a:r>
            <a:br/>
            <a:r>
              <a:t>   - Jira CLI: 3 patterns</a:t>
            </a:r>
            <a:br/>
            <a:r>
              <a:t>   - Error handling: 5 patterns</a:t>
            </a:r>
            <a:br/>
            <a:r>
              <a:t>   - Authentication: 4 patterns</a:t>
            </a:r>
            <a:br/>
            <a:r>
              <a:t>🛠️ Currently Loaded Tools: git, gitlab, jira (~78 tools)</a:t>
            </a:r>
            <a:br/>
            <a:br/>
            <a:r>
              <a:t>📍 Current Work:</a:t>
            </a:r>
            <a:br/>
            <a: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Error Prevention</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800"/>
              </a:spcBef>
              <a:defRPr sz="1200">
                <a:solidFill>
                  <a:srgbClr val="1F2937"/>
                </a:solidFill>
                <a:latin typeface="Courier New"/>
              </a:defRPr>
            </a:pPr>
            <a:r>
              <a:t># Before a risky operation</a:t>
            </a:r>
            <a:br/>
            <a:r>
              <a:t>check_known_issues(tool_name="bonfire_deploy")</a:t>
            </a:r>
            <a:br/>
            <a:br/>
            <a:r>
              <a:t># After a failure</a:t>
            </a:r>
            <a:br/>
            <a:r>
              <a:t>check_known_issues(error_text="manifest unknown")</a:t>
            </a:r>
          </a:p>
          <a:p>
            <a:pPr>
              <a:spcBef>
                <a:spcPts val="1200"/>
              </a:spcBef>
              <a:spcAft>
                <a:spcPts val="400"/>
              </a:spcAft>
              <a:defRPr sz="2000" b="1">
                <a:solidFill>
                  <a:srgbClr val="8B5CF6"/>
                </a:solidFill>
              </a:defRPr>
            </a:pPr>
            <a:r>
              <a:t>Output</a:t>
            </a:r>
          </a:p>
          <a:p>
            <a:pPr>
              <a:spcBef>
                <a:spcPts val="800"/>
              </a:spcBef>
              <a:defRPr sz="1200">
                <a:solidFill>
                  <a:srgbClr val="1F2937"/>
                </a:solidFill>
                <a:latin typeface="Courier New"/>
              </a:defRPr>
            </a:pPr>
            <a:r>
              <a:t>## 💡 Known Issues Found!</a:t>
            </a:r>
            <a:br/>
            <a:br/>
            <a:r>
              <a:t>**Previous fix for `bonfire_deploy`:**</a:t>
            </a:r>
            <a:br/>
            <a:r>
              <a:t>- Pattern: `manifest unknown`</a:t>
            </a:r>
            <a:br/>
            <a:r>
              <a:t>- Root cause: Short SHA doesn't exist in Quay</a:t>
            </a:r>
            <a:br/>
            <a:r>
              <a:t>- **Fix:** Use full 40-char SHA instead of 8-char</a:t>
            </a:r>
          </a:p>
          <a:p>
            <a:pPr>
              <a:spcBef>
                <a:spcPts val="1200"/>
              </a:spcBef>
              <a:spcAft>
                <a:spcPts val="400"/>
              </a:spcAft>
              <a:defRPr sz="2000" b="1">
                <a:solidFill>
                  <a:srgbClr val="8B5CF6"/>
                </a:solidFill>
              </a:defRPr>
            </a:pPr>
            <a:r>
              <a:t>Memory Files Updated Automatically</a:t>
            </a:r>
          </a:p>
          <a:p>
            <a:pPr>
              <a:spcAft>
                <a:spcPts val="800"/>
              </a:spcAft>
              <a:defRPr sz="1800">
                <a:solidFill>
                  <a:srgbClr val="1F2937"/>
                </a:solidFill>
              </a:defRPr>
            </a:pPr>
            <a:r>
              <a:t>• Failures logged with timestamps</a:t>
            </a:r>
          </a:p>
          <a:p>
            <a:pPr>
              <a:spcAft>
                <a:spcPts val="800"/>
              </a:spcAft>
              <a:defRPr sz="1800">
                <a:solidFill>
                  <a:srgbClr val="1F2937"/>
                </a:solidFill>
              </a:defRPr>
            </a:pPr>
            <a:r>
              <a:t>• Success rates tracked</a:t>
            </a:r>
          </a:p>
          <a:p>
            <a:pPr>
              <a:spcAft>
                <a:spcPts val="800"/>
              </a:spcAft>
              <a:defRPr sz="1800">
                <a:solidFill>
                  <a:srgbClr val="1F2937"/>
                </a:solidFill>
              </a:defRPr>
            </a:pPr>
            <a:r>
              <a:t>• Patterns deduplicated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Integrations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Slack Bot Integration</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Capabilities</a:t>
            </a:r>
          </a:p>
          <a:p>
            <a:pPr>
              <a:spcAft>
                <a:spcPts val="800"/>
              </a:spcAft>
              <a:defRPr sz="1800">
                <a:solidFill>
                  <a:srgbClr val="1F2937"/>
                </a:solidFill>
              </a:defRPr>
            </a:pPr>
            <a:r>
              <a:t>• Monitor channels for queries and alerts</a:t>
            </a:r>
          </a:p>
          <a:p>
            <a:pPr>
              <a:spcAft>
                <a:spcPts val="800"/>
              </a:spcAft>
              <a:defRPr sz="1800">
                <a:solidFill>
                  <a:srgbClr val="1F2937"/>
                </a:solidFill>
              </a:defRPr>
            </a:pPr>
            <a:r>
              <a:t>• Respond to natural language requests</a:t>
            </a:r>
          </a:p>
          <a:p>
            <a:pPr>
              <a:spcAft>
                <a:spcPts val="800"/>
              </a:spcAft>
              <a:defRPr sz="1800">
                <a:solidFill>
                  <a:srgbClr val="1F2937"/>
                </a:solidFill>
              </a:defRPr>
            </a:pPr>
            <a:r>
              <a:t>• Investigate alerts automatically</a:t>
            </a:r>
          </a:p>
          <a:p>
            <a:pPr>
              <a:spcAft>
                <a:spcPts val="800"/>
              </a:spcAft>
              <a:defRPr sz="1800">
                <a:solidFill>
                  <a:srgbClr val="1F2937"/>
                </a:solidFill>
              </a:defRPr>
            </a:pPr>
            <a:r>
              <a:t>• Create Jira issues from conversations</a:t>
            </a:r>
          </a:p>
          <a:p>
            <a:pPr>
              <a:spcAft>
                <a:spcPts val="800"/>
              </a:spcAft>
              <a:defRPr sz="1800">
                <a:solidFill>
                  <a:srgbClr val="1F2937"/>
                </a:solidFill>
              </a:defRPr>
            </a:pPr>
            <a:r>
              <a:t>• D-Bus IPC for control</a:t>
            </a:r>
          </a:p>
          <a:p>
            <a:pPr>
              <a:spcBef>
                <a:spcPts val="1200"/>
              </a:spcBef>
              <a:spcAft>
                <a:spcPts val="400"/>
              </a:spcAft>
              <a:defRPr sz="2000" b="1">
                <a:solidFill>
                  <a:srgbClr val="8B5CF6"/>
                </a:solidFill>
              </a:defRPr>
            </a:pPr>
            <a:r>
              <a:t>Example Interaction</a:t>
            </a:r>
          </a:p>
          <a:p>
            <a:pPr>
              <a:spcBef>
                <a:spcPts val="800"/>
              </a:spcBef>
              <a:defRPr sz="1200">
                <a:solidFill>
                  <a:srgbClr val="1F2937"/>
                </a:solidFill>
                <a:latin typeface="Courier New"/>
              </a:defRPr>
            </a:pPr>
            <a:r>
              <a:t>User: What's the status of AAP-12345?</a:t>
            </a:r>
            <a:br/>
            <a:br/>
            <a:r>
              <a:t>Bot: 📋 *AAP-12345*: Implement caching layer</a:t>
            </a:r>
            <a:br/>
            <a:r>
              <a:t>     Status: In Progress 🔄</a:t>
            </a:r>
            <a:br/>
            <a:r>
              <a:t>     Assignee: @jsmith</a:t>
            </a:r>
            <a:br/>
            <a:r>
              <a:t>     [View in Jira](link)</a:t>
            </a:r>
          </a:p>
          <a:p>
            <a:pPr>
              <a:spcBef>
                <a:spcPts val="1200"/>
              </a:spcBef>
              <a:spcAft>
                <a:spcPts val="400"/>
              </a:spcAft>
              <a:defRPr sz="2000" b="1">
                <a:solidFill>
                  <a:srgbClr val="8B5CF6"/>
                </a:solidFill>
              </a:defRPr>
            </a:pPr>
            <a:r>
              <a:t>Visual: Screenshot of Slack conversation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Alert Investigation</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When Prometheus Alert Fires</a:t>
            </a:r>
          </a:p>
          <a:p>
            <a:pPr>
              <a:spcBef>
                <a:spcPts val="800"/>
              </a:spcBef>
              <a:defRPr sz="1200">
                <a:solidFill>
                  <a:srgbClr val="1F2937"/>
                </a:solidFill>
                <a:latin typeface="Courier New"/>
              </a:defRPr>
            </a:pPr>
            <a:r>
              <a:t>AlertManager: [FIRING:1] HighErrorRate - tower-analytics-api</a:t>
            </a:r>
            <a:br/>
            <a:br/>
            <a:r>
              <a:t>Bot: 👀 Investigating alert...</a:t>
            </a:r>
            <a:br/>
            <a:br/>
            <a:r>
              <a:t>     🚨 *HighErrorRate* - tower-analytics-api</a:t>
            </a:r>
            <a:br/>
            <a:r>
              <a:t>     Environment: stage</a:t>
            </a:r>
            <a:br/>
            <a:br/>
            <a:r>
              <a:t>     📊 **Pod Status:**</a:t>
            </a:r>
            <a:br/>
            <a:r>
              <a:t>...</a:t>
            </a:r>
          </a:p>
          <a:p>
            <a:pPr>
              <a:spcBef>
                <a:spcPts val="1200"/>
              </a:spcBef>
              <a:spcAft>
                <a:spcPts val="400"/>
              </a:spcAft>
              <a:defRPr sz="2000" b="1">
                <a:solidFill>
                  <a:srgbClr val="8B5CF6"/>
                </a:solidFill>
              </a:defRPr>
            </a:pPr>
            <a:r>
              <a:t>Skills Used: investigate_slack_alert → investigate_alert → k8s tools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Cursor VSCode Extension</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Features</a:t>
            </a:r>
          </a:p>
          <a:p>
            <a:pPr>
              <a:spcBef>
                <a:spcPts val="800"/>
              </a:spcBef>
              <a:defRPr sz="1400" b="1">
                <a:solidFill>
                  <a:srgbClr val="8B5CF6"/>
                </a:solidFill>
              </a:defRPr>
            </a:pPr>
            <a:r>
              <a:t>Feature | Description</a:t>
            </a:r>
          </a:p>
          <a:p>
            <a:pPr>
              <a:defRPr sz="1400">
                <a:solidFill>
                  <a:srgbClr val="1F2937"/>
                </a:solidFill>
              </a:defRPr>
            </a:pPr>
            <a:r>
              <a:t>**Status Bar** | Active issue, MR status, environment health</a:t>
            </a:r>
          </a:p>
          <a:p>
            <a:pPr>
              <a:defRPr sz="1400">
                <a:solidFill>
                  <a:srgbClr val="1F2937"/>
                </a:solidFill>
              </a:defRPr>
            </a:pPr>
            <a:r>
              <a:t>**Tree View** | Workflow Explorer in sidebar</a:t>
            </a:r>
          </a:p>
          <a:p>
            <a:pPr>
              <a:defRPr sz="1400">
                <a:solidFill>
                  <a:srgbClr val="1F2937"/>
                </a:solidFill>
              </a:defRPr>
            </a:pPr>
            <a:r>
              <a:t>**Commands** | 10+ palette commands</a:t>
            </a:r>
          </a:p>
          <a:p>
            <a:pPr>
              <a:defRPr sz="1400">
                <a:solidFill>
                  <a:srgbClr val="1F2937"/>
                </a:solidFill>
              </a:defRPr>
            </a:pPr>
            <a:r>
              <a:t>**Notifications** | Toast alerts for important events</a:t>
            </a:r>
          </a:p>
          <a:p>
            <a:pPr>
              <a:defRPr sz="1400">
                <a:solidFill>
                  <a:srgbClr val="1F2937"/>
                </a:solidFill>
              </a:defRPr>
            </a:pPr>
            <a:r>
              <a:t>**Dashboard** | Rich webview overview</a:t>
            </a:r>
          </a:p>
          <a:p>
            <a:pPr>
              <a:defRPr sz="1400">
                <a:solidFill>
                  <a:srgbClr val="1F2937"/>
                </a:solidFill>
              </a:defRPr>
            </a:pPr>
            <a:r>
              <a:t>**Skill Visualizer** | Watch skill execution as flowchart</a:t>
            </a:r>
          </a:p>
          <a:p>
            <a:pPr>
              <a:spcBef>
                <a:spcPts val="1200"/>
              </a:spcBef>
              <a:spcAft>
                <a:spcPts val="400"/>
              </a:spcAft>
              <a:defRPr sz="2000" b="1">
                <a:solidFill>
                  <a:srgbClr val="8B5CF6"/>
                </a:solidFill>
              </a:defRPr>
            </a:pPr>
            <a:r>
              <a:t>Status Bar Items</a:t>
            </a:r>
          </a:p>
          <a:p>
            <a:pPr>
              <a:spcAft>
                <a:spcPts val="800"/>
              </a:spcAft>
              <a:defRPr sz="1800">
                <a:solidFill>
                  <a:srgbClr val="1F2937"/>
                </a:solidFill>
              </a:defRPr>
            </a:pPr>
            <a:r>
              <a:t>• 💬 Slack daemon status</a:t>
            </a:r>
          </a:p>
          <a:p>
            <a:pPr>
              <a:spcAft>
                <a:spcPts val="800"/>
              </a:spcAft>
              <a:defRPr sz="1800">
                <a:solidFill>
                  <a:srgbClr val="1F2937"/>
                </a:solidFill>
              </a:defRPr>
            </a:pPr>
            <a:r>
              <a:t>• 🎫 Current Jira issue (click to open)</a:t>
            </a:r>
          </a:p>
          <a:p>
            <a:pPr>
              <a:spcAft>
                <a:spcPts val="800"/>
              </a:spcAft>
              <a:defRPr sz="1800">
                <a:solidFill>
                  <a:srgbClr val="1F2937"/>
                </a:solidFill>
              </a:defRPr>
            </a:pPr>
            <a:r>
              <a:t>• 🌍 Environment health</a:t>
            </a:r>
          </a:p>
          <a:p>
            <a:pPr>
              <a:spcAft>
                <a:spcPts val="800"/>
              </a:spcAft>
              <a:defRPr sz="1800">
                <a:solidFill>
                  <a:srgbClr val="1F2937"/>
                </a:solidFill>
              </a:defRPr>
            </a:pPr>
            <a:r>
              <a:t>• 🔀 Active MR with pipeline status</a:t>
            </a:r>
          </a:p>
          <a:p>
            <a:pPr>
              <a:spcBef>
                <a:spcPts val="1200"/>
              </a:spcBef>
              <a:spcAft>
                <a:spcPts val="400"/>
              </a:spcAft>
              <a:defRPr sz="2000" b="1">
                <a:solidFill>
                  <a:srgbClr val="8B5CF6"/>
                </a:solidFill>
              </a:defRPr>
            </a:pPr>
            <a:r>
              <a:t>Visual: Screenshot of Cursor with extension visible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IDE Integration Points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Data Sources</a:t>
            </a:r>
          </a:p>
          <a:p>
            <a:pPr>
              <a:spcBef>
                <a:spcPts val="800"/>
              </a:spcBef>
              <a:defRPr sz="1200">
                <a:solidFill>
                  <a:srgbClr val="1F2937"/>
                </a:solidFill>
                <a:latin typeface="Courier New"/>
              </a:defRPr>
            </a:pPr>
            <a:r>
              <a:t>┌────────────────────────────────────────────┐</a:t>
            </a:r>
            <a:br/>
            <a:r>
              <a:t>│           VSCode Extension                  │</a:t>
            </a:r>
            <a:br/>
            <a:r>
              <a:t>│  ┌──────────┐  ┌──────────┐  ┌──────────┐ │</a:t>
            </a:r>
            <a:br/>
            <a:r>
              <a:t>│  │ StatusBar│  │ Commands │  │ TreeView │ │</a:t>
            </a:r>
            <a:br/>
            <a:r>
              <a:t>│  └────┬─────┘  └────┬─────┘  └────┬─────┘ │</a:t>
            </a:r>
            <a:br/>
            <a:r>
              <a:t>└───────┼─────────────┼─────────────┼────────┘</a:t>
            </a:r>
            <a:br/>
            <a:r>
              <a:t>        │             │             │</a:t>
            </a:r>
            <a:br/>
            <a:r>
              <a:t>        └─────────────┴──────┬──────┘</a:t>
            </a:r>
            <a:br/>
            <a:r>
              <a:t>...</a:t>
            </a:r>
          </a:p>
          <a:p>
            <a:pPr>
              <a:spcBef>
                <a:spcPts val="1200"/>
              </a:spcBef>
              <a:spcAft>
                <a:spcPts val="400"/>
              </a:spcAft>
              <a:defRPr sz="2000" b="1">
                <a:solidFill>
                  <a:srgbClr val="8B5CF6"/>
                </a:solidFill>
              </a:defRPr>
            </a:pPr>
            <a:r>
              <a:t>Memory Files Read</a:t>
            </a:r>
          </a:p>
          <a:p>
            <a:pPr>
              <a:spcAft>
                <a:spcPts val="800"/>
              </a:spcAft>
              <a:defRPr sz="1800">
                <a:solidFill>
                  <a:srgbClr val="1F2937"/>
                </a:solidFill>
              </a:defRPr>
            </a:pPr>
            <a:r>
              <a:t>• `memory/state/current_work.yaml`</a:t>
            </a:r>
          </a:p>
          <a:p>
            <a:pPr>
              <a:spcAft>
                <a:spcPts val="800"/>
              </a:spcAft>
              <a:defRPr sz="1800">
                <a:solidFill>
                  <a:srgbClr val="1F2937"/>
                </a:solidFill>
              </a:defRPr>
            </a:pPr>
            <a:r>
              <a:t>• `memory/state/environments.yaml`</a:t>
            </a:r>
          </a:p>
          <a:p>
            <a:pPr>
              <a:spcAft>
                <a:spcPts val="800"/>
              </a:spcAft>
              <a:defRPr sz="1800">
                <a:solidFill>
                  <a:srgbClr val="1F2937"/>
                </a:solidFill>
              </a:defRPr>
            </a:pPr>
            <a:r>
              <a:t>• Running status, uptime, message counts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Future Vision - Voice-Powered 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The Voice Pipeline Vision</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Scenario: You're in a meeting, someone asks "What's the status of the auth service?"</a:t>
            </a:r>
          </a:p>
          <a:p>
            <a:pPr>
              <a:spcBef>
                <a:spcPts val="1200"/>
              </a:spcBef>
              <a:spcAft>
                <a:spcPts val="400"/>
              </a:spcAft>
              <a:defRPr sz="2000" b="1">
                <a:solidFill>
                  <a:srgbClr val="8B5CF6"/>
                </a:solidFill>
              </a:defRPr>
            </a:pPr>
            <a:r>
              <a:t>Today: </a:t>
            </a:r>
          </a:p>
          <a:p>
            <a:pPr>
              <a:spcAft>
                <a:spcPts val="800"/>
              </a:spcAft>
              <a:defRPr sz="1800">
                <a:solidFill>
                  <a:srgbClr val="1F2937"/>
                </a:solidFill>
              </a:defRPr>
            </a:pPr>
            <a:r>
              <a:t>• Switch to laptop</a:t>
            </a:r>
          </a:p>
          <a:p>
            <a:pPr>
              <a:spcAft>
                <a:spcPts val="800"/>
              </a:spcAft>
              <a:defRPr sz="1800">
                <a:solidFill>
                  <a:srgbClr val="1F2937"/>
                </a:solidFill>
              </a:defRPr>
            </a:pPr>
            <a:r>
              <a:t>• Open terminal or Slack</a:t>
            </a:r>
          </a:p>
          <a:p>
            <a:pPr>
              <a:spcAft>
                <a:spcPts val="800"/>
              </a:spcAft>
              <a:defRPr sz="1800">
                <a:solidFill>
                  <a:srgbClr val="1F2937"/>
                </a:solidFill>
              </a:defRPr>
            </a:pPr>
            <a:r>
              <a:t>• Type query</a:t>
            </a:r>
          </a:p>
          <a:p>
            <a:pPr>
              <a:spcAft>
                <a:spcPts val="800"/>
              </a:spcAft>
              <a:defRPr sz="1800">
                <a:solidFill>
                  <a:srgbClr val="1F2937"/>
                </a:solidFill>
              </a:defRPr>
            </a:pPr>
            <a:r>
              <a:t>• Wait for response</a:t>
            </a:r>
          </a:p>
          <a:p>
            <a:pPr>
              <a:spcAft>
                <a:spcPts val="800"/>
              </a:spcAft>
              <a:defRPr sz="1800">
                <a:solidFill>
                  <a:srgbClr val="1F2937"/>
                </a:solidFill>
              </a:defRPr>
            </a:pPr>
            <a:r>
              <a:t>• Read it to the group</a:t>
            </a:r>
          </a:p>
          <a:p>
            <a:pPr>
              <a:spcBef>
                <a:spcPts val="1200"/>
              </a:spcBef>
              <a:spcAft>
                <a:spcPts val="400"/>
              </a:spcAft>
              <a:defRPr sz="2000" b="1">
                <a:solidFill>
                  <a:srgbClr val="8B5CF6"/>
                </a:solidFill>
              </a:defRPr>
            </a:pPr>
            <a:r>
              <a:t>Tomorrow</a:t>
            </a:r>
          </a:p>
          <a:p>
            <a:pPr>
              <a:spcAft>
                <a:spcPts val="800"/>
              </a:spcAft>
              <a:defRPr sz="1800">
                <a:solidFill>
                  <a:srgbClr val="1F2937"/>
                </a:solidFill>
              </a:defRPr>
            </a:pPr>
            <a:r>
              <a:t>• Just ask out loud</a:t>
            </a:r>
          </a:p>
          <a:p>
            <a:pPr>
              <a:spcAft>
                <a:spcPts val="800"/>
              </a:spcAft>
              <a:defRPr sz="1800">
                <a:solidFill>
                  <a:srgbClr val="1F2937"/>
                </a:solidFill>
              </a:defRPr>
            </a:pPr>
            <a:r>
              <a:t>• AI listens, processes, responds</a:t>
            </a:r>
          </a:p>
          <a:p>
            <a:pPr>
              <a:spcAft>
                <a:spcPts val="800"/>
              </a:spcAft>
              <a:defRPr sz="1800">
                <a:solidFill>
                  <a:srgbClr val="1F2937"/>
                </a:solidFill>
              </a:defRPr>
            </a:pPr>
            <a:r>
              <a:t>• All hands-free, instant</a:t>
            </a:r>
          </a:p>
          <a:p>
            <a:pPr>
              <a:spcBef>
                <a:spcPts val="1200"/>
              </a:spcBef>
              <a:spcAft>
                <a:spcPts val="400"/>
              </a:spcAft>
              <a:defRPr sz="2000" b="1">
                <a:solidFill>
                  <a:srgbClr val="8B5CF6"/>
                </a:solidFill>
              </a:defRPr>
            </a:pPr>
            <a:r>
              <a:t>Visual: Person in meeting with voice waves going to laptop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NPU-Accelerated Speech-to-Text</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Technology</a:t>
            </a:r>
          </a:p>
          <a:p>
            <a:pPr>
              <a:spcAft>
                <a:spcPts val="800"/>
              </a:spcAft>
              <a:defRPr sz="1800">
                <a:solidFill>
                  <a:srgbClr val="1F2937"/>
                </a:solidFill>
              </a:defRPr>
            </a:pPr>
            <a:r>
              <a:t>• Whisper - OpenAI's speech recognition model</a:t>
            </a:r>
          </a:p>
          <a:p>
            <a:pPr>
              <a:spcAft>
                <a:spcPts val="800"/>
              </a:spcAft>
              <a:defRPr sz="1800">
                <a:solidFill>
                  <a:srgbClr val="1F2937"/>
                </a:solidFill>
              </a:defRPr>
            </a:pPr>
            <a:r>
              <a:t>• NPU - Neural Processing Unit in modern laptops</a:t>
            </a:r>
          </a:p>
          <a:p>
            <a:pPr>
              <a:spcAft>
                <a:spcPts val="800"/>
              </a:spcAft>
              <a:defRPr sz="1800">
                <a:solidFill>
                  <a:srgbClr val="1F2937"/>
                </a:solidFill>
              </a:defRPr>
            </a:pPr>
            <a:r>
              <a:t>• Local Processing - No cloud, no latency, no privacy concerns</a:t>
            </a:r>
          </a:p>
          <a:p>
            <a:pPr>
              <a:spcBef>
                <a:spcPts val="1200"/>
              </a:spcBef>
              <a:spcAft>
                <a:spcPts val="400"/>
              </a:spcAft>
              <a:defRPr sz="2000" b="1">
                <a:solidFill>
                  <a:srgbClr val="8B5CF6"/>
                </a:solidFill>
              </a:defRPr>
            </a:pPr>
            <a:r>
              <a:t>How It Works</a:t>
            </a:r>
          </a:p>
          <a:p>
            <a:pPr>
              <a:spcBef>
                <a:spcPts val="800"/>
              </a:spcBef>
              <a:defRPr sz="1200">
                <a:solidFill>
                  <a:srgbClr val="1F2937"/>
                </a:solidFill>
                <a:latin typeface="Courier New"/>
              </a:defRPr>
            </a:pPr>
            <a:r>
              <a:t>🎤 Microphone → Audio Buffer → NPU (Whisper) → Text</a:t>
            </a:r>
            <a:br/>
            <a:r>
              <a:t>     Voice         Capture        Recognition     Output</a:t>
            </a:r>
            <a:br/>
            <a:r>
              <a:t>   "What's the     48kHz         10-20x faster    "What's the</a:t>
            </a:r>
            <a:br/>
            <a:r>
              <a:t>    status?"       audio          than CPU         status?"</a:t>
            </a:r>
          </a:p>
          <a:p>
            <a:pPr>
              <a:spcBef>
                <a:spcPts val="1200"/>
              </a:spcBef>
              <a:spcAft>
                <a:spcPts val="400"/>
              </a:spcAft>
              <a:defRPr sz="2000" b="1">
                <a:solidFill>
                  <a:srgbClr val="8B5CF6"/>
                </a:solidFill>
              </a:defRPr>
            </a:pPr>
            <a:r>
              <a:t>NPU Advantage</a:t>
            </a:r>
          </a:p>
          <a:p>
            <a:pPr>
              <a:spcAft>
                <a:spcPts val="800"/>
              </a:spcAft>
              <a:defRPr sz="1800">
                <a:solidFill>
                  <a:srgbClr val="1F2937"/>
                </a:solidFill>
              </a:defRPr>
            </a:pPr>
            <a:r>
              <a:t>• Real-time transcription</a:t>
            </a:r>
          </a:p>
          <a:p>
            <a:pPr>
              <a:spcAft>
                <a:spcPts val="800"/>
              </a:spcAft>
              <a:defRPr sz="1800">
                <a:solidFill>
                  <a:srgbClr val="1F2937"/>
                </a:solidFill>
              </a:defRPr>
            </a:pPr>
            <a:r>
              <a:t>• Low power consumption</a:t>
            </a:r>
          </a:p>
          <a:p>
            <a:pPr>
              <a:spcAft>
                <a:spcPts val="800"/>
              </a:spcAft>
              <a:defRPr sz="1800">
                <a:solidFill>
                  <a:srgbClr val="1F2937"/>
                </a:solidFill>
              </a:defRPr>
            </a:pPr>
            <a:r>
              <a:t>• Works offline</a:t>
            </a:r>
          </a:p>
          <a:p>
            <a:pPr>
              <a:spcAft>
                <a:spcPts val="800"/>
              </a:spcAft>
              <a:defRPr sz="1800">
                <a:solidFill>
                  <a:srgbClr val="1F2937"/>
                </a:solidFill>
              </a:defRPr>
            </a:pPr>
            <a:r>
              <a:t>• Private - audio never leaves device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Local LLM Processing</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Technology</a:t>
            </a:r>
          </a:p>
          <a:p>
            <a:pPr>
              <a:spcAft>
                <a:spcPts val="800"/>
              </a:spcAft>
              <a:defRPr sz="1800">
                <a:solidFill>
                  <a:srgbClr val="1F2937"/>
                </a:solidFill>
              </a:defRPr>
            </a:pPr>
            <a:r>
              <a:t>• Ollama / llama.cpp - Run LLMs locally</a:t>
            </a:r>
          </a:p>
          <a:p>
            <a:pPr>
              <a:spcAft>
                <a:spcPts val="800"/>
              </a:spcAft>
              <a:defRPr sz="1800">
                <a:solidFill>
                  <a:srgbClr val="1F2937"/>
                </a:solidFill>
              </a:defRPr>
            </a:pPr>
            <a:r>
              <a:t>• Smaller models - 7B-13B parameters fit on laptops</a:t>
            </a:r>
          </a:p>
          <a:p>
            <a:pPr>
              <a:spcAft>
                <a:spcPts val="800"/>
              </a:spcAft>
              <a:defRPr sz="1800">
                <a:solidFill>
                  <a:srgbClr val="1F2937"/>
                </a:solidFill>
              </a:defRPr>
            </a:pPr>
            <a:r>
              <a:t>• Quantization - 4-bit models for efficiency</a:t>
            </a:r>
          </a:p>
          <a:p>
            <a:pPr>
              <a:spcBef>
                <a:spcPts val="1200"/>
              </a:spcBef>
              <a:spcAft>
                <a:spcPts val="400"/>
              </a:spcAft>
              <a:defRPr sz="2000" b="1">
                <a:solidFill>
                  <a:srgbClr val="8B5CF6"/>
                </a:solidFill>
              </a:defRPr>
            </a:pPr>
            <a:r>
              <a:t>Pipeline</a:t>
            </a:r>
          </a:p>
          <a:p>
            <a:pPr>
              <a:spcBef>
                <a:spcPts val="800"/>
              </a:spcBef>
              <a:defRPr sz="1200">
                <a:solidFill>
                  <a:srgbClr val="1F2937"/>
                </a:solidFill>
                <a:latin typeface="Courier New"/>
              </a:defRPr>
            </a:pPr>
            <a:r>
              <a:t>Text Query → Local LLM → Text Response</a:t>
            </a:r>
            <a:br/>
            <a:r>
              <a:t>"What's the   Ollama      "The auth service</a:t>
            </a:r>
            <a:br/>
            <a:r>
              <a:t> status?"    (Mistral)    is running with</a:t>
            </a:r>
            <a:br/>
            <a:r>
              <a:t>                          3 pods, all healthy"</a:t>
            </a:r>
          </a:p>
          <a:p>
            <a:pPr>
              <a:spcBef>
                <a:spcPts val="1200"/>
              </a:spcBef>
              <a:spcAft>
                <a:spcPts val="400"/>
              </a:spcAft>
              <a:defRPr sz="2000" b="1">
                <a:solidFill>
                  <a:srgbClr val="8B5CF6"/>
                </a:solidFill>
              </a:defRPr>
            </a:pPr>
            <a:r>
              <a:t>Why Local?</a:t>
            </a:r>
          </a:p>
          <a:p>
            <a:pPr>
              <a:spcAft>
                <a:spcPts val="800"/>
              </a:spcAft>
              <a:defRPr sz="1800">
                <a:solidFill>
                  <a:srgbClr val="1F2937"/>
                </a:solidFill>
              </a:defRPr>
            </a:pPr>
            <a:r>
              <a:t>• ✅ Privacy - sensitive data stays on device</a:t>
            </a:r>
          </a:p>
          <a:p>
            <a:pPr>
              <a:spcAft>
                <a:spcPts val="800"/>
              </a:spcAft>
              <a:defRPr sz="1800">
                <a:solidFill>
                  <a:srgbClr val="1F2937"/>
                </a:solidFill>
              </a:defRPr>
            </a:pPr>
            <a:r>
              <a:t>• ✅ Cost - no API charges</a:t>
            </a:r>
          </a:p>
          <a:p>
            <a:pPr>
              <a:spcAft>
                <a:spcPts val="800"/>
              </a:spcAft>
              <a:defRPr sz="1800">
                <a:solidFill>
                  <a:srgbClr val="1F2937"/>
                </a:solidFill>
              </a:defRPr>
            </a:pPr>
            <a:r>
              <a:t>• ✅ Speed - no network latency</a:t>
            </a:r>
          </a:p>
          <a:p>
            <a:pPr>
              <a:spcAft>
                <a:spcPts val="800"/>
              </a:spcAft>
              <a:defRPr sz="1800">
                <a:solidFill>
                  <a:srgbClr val="1F2937"/>
                </a:solidFill>
              </a:defRPr>
            </a:pPr>
            <a:r>
              <a:t>• ✅ Offline - works anywhere</a:t>
            </a:r>
          </a:p>
          <a:p>
            <a:pPr>
              <a:spcBef>
                <a:spcPts val="1200"/>
              </a:spcBef>
              <a:spcAft>
                <a:spcPts val="400"/>
              </a:spcAft>
              <a:defRPr sz="2000" b="1">
                <a:solidFill>
                  <a:srgbClr val="8B5CF6"/>
                </a:solidFill>
              </a:defRPr>
            </a:pPr>
            <a:r>
              <a:t>Note: For complex queries, can still escalate to Claude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NPU Text-to-Speech</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The Technology</a:t>
            </a:r>
          </a:p>
          <a:p>
            <a:pPr>
              <a:spcAft>
                <a:spcPts val="800"/>
              </a:spcAft>
              <a:defRPr sz="1800">
                <a:solidFill>
                  <a:srgbClr val="1F2937"/>
                </a:solidFill>
              </a:defRPr>
            </a:pPr>
            <a:r>
              <a:t>• Piper / Coqui TTS - High-quality local TTS</a:t>
            </a:r>
          </a:p>
          <a:p>
            <a:pPr>
              <a:spcAft>
                <a:spcPts val="800"/>
              </a:spcAft>
              <a:defRPr sz="1800">
                <a:solidFill>
                  <a:srgbClr val="1F2937"/>
                </a:solidFill>
              </a:defRPr>
            </a:pPr>
            <a:r>
              <a:t>• NPU Acceleration - Natural voice synthesis</a:t>
            </a:r>
          </a:p>
          <a:p>
            <a:pPr>
              <a:spcAft>
                <a:spcPts val="800"/>
              </a:spcAft>
              <a:defRPr sz="1800">
                <a:solidFill>
                  <a:srgbClr val="1F2937"/>
                </a:solidFill>
              </a:defRPr>
            </a:pPr>
            <a:r>
              <a:t>• Multiple Voices - Choose style and language</a:t>
            </a:r>
          </a:p>
          <a:p>
            <a:pPr>
              <a:spcBef>
                <a:spcPts val="1200"/>
              </a:spcBef>
              <a:spcAft>
                <a:spcPts val="400"/>
              </a:spcAft>
              <a:defRPr sz="2000" b="1">
                <a:solidFill>
                  <a:srgbClr val="8B5CF6"/>
                </a:solidFill>
              </a:defRPr>
            </a:pPr>
            <a:r>
              <a:t>Complete Pipeline</a:t>
            </a:r>
          </a:p>
          <a:p>
            <a:pPr>
              <a:spcBef>
                <a:spcPts val="800"/>
              </a:spcBef>
              <a:defRPr sz="1200">
                <a:solidFill>
                  <a:srgbClr val="1F2937"/>
                </a:solidFill>
                <a:latin typeface="Courier New"/>
              </a:defRPr>
            </a:pPr>
            <a:r>
              <a:t>┌─────────────┐    ┌─────────────┐    ┌─────────────┐    ┌─────────────┐</a:t>
            </a:r>
            <a:br/>
            <a:r>
              <a:t>│   Meeting   │ -&gt; │  NPU: STT   │ -&gt; │  Local LLM  │ -&gt; │  NPU: TTS   │</a:t>
            </a:r>
            <a:br/>
            <a:r>
              <a:t>│   Audio     │    │  (Whisper)  │    │  (Ollama)   │    │  (Piper)    │</a:t>
            </a:r>
            <a:br/>
            <a:r>
              <a:t>└─────────────┘    └─────────────┘    └─────────────┘    └─────────────┘</a:t>
            </a:r>
            <a:br/>
            <a:r>
              <a:t>     Voice            Text             AI Response          Voice</a:t>
            </a:r>
            <a:br/>
            <a:r>
              <a:t>   "What's the       Transcribed       Generated           Spoken</a:t>
            </a:r>
            <a:br/>
            <a:r>
              <a:t>    status?"         question          answer              response</a:t>
            </a:r>
          </a:p>
          <a:p>
            <a:pPr>
              <a:spcBef>
                <a:spcPts val="1200"/>
              </a:spcBef>
              <a:spcAft>
                <a:spcPts val="400"/>
              </a:spcAft>
              <a:defRPr sz="2000" b="1">
                <a:solidFill>
                  <a:srgbClr val="8B5CF6"/>
                </a:solidFill>
              </a:defRPr>
            </a:pPr>
            <a:r>
              <a:t>Why NPU for TTS?</a:t>
            </a:r>
          </a:p>
          <a:p>
            <a:pPr>
              <a:spcAft>
                <a:spcPts val="800"/>
              </a:spcAft>
              <a:defRPr sz="1800">
                <a:solidFill>
                  <a:srgbClr val="1F2937"/>
                </a:solidFill>
              </a:defRPr>
            </a:pPr>
            <a:r>
              <a:t>• Natural sounding voice</a:t>
            </a:r>
          </a:p>
          <a:p>
            <a:pPr>
              <a:spcAft>
                <a:spcPts val="800"/>
              </a:spcAft>
              <a:defRPr sz="1800">
                <a:solidFill>
                  <a:srgbClr val="1F2937"/>
                </a:solidFill>
              </a:defRPr>
            </a:pPr>
            <a:r>
              <a:t>• Sub-second latency</a:t>
            </a:r>
          </a:p>
          <a:p>
            <a:pPr>
              <a:spcAft>
                <a:spcPts val="800"/>
              </a:spcAft>
              <a:defRPr sz="1800">
                <a:solidFill>
                  <a:srgbClr val="1F2937"/>
                </a:solidFill>
              </a:defRPr>
            </a:pPr>
            <a:r>
              <a:t>• Works offline</a:t>
            </a:r>
          </a:p>
          <a:p>
            <a:pPr>
              <a:spcAft>
                <a:spcPts val="800"/>
              </a:spcAft>
              <a:defRPr sz="1800">
                <a:solidFill>
                  <a:srgbClr val="1F2937"/>
                </a:solidFill>
              </a:defRPr>
            </a:pPr>
            <a:r>
              <a:t>• Customizable voice profiles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828800"/>
          </a:xfrm>
          <a:prstGeom prst="rect">
            <a:avLst/>
          </a:prstGeom>
          <a:noFill/>
        </p:spPr>
        <p:txBody>
          <a:bodyPr wrap="square">
            <a:spAutoFit/>
          </a:bodyPr>
          <a:lstStyle/>
          <a:p>
            <a:pPr algn="ctr">
              <a:defRPr sz="5400" b="1">
                <a:solidFill>
                  <a:srgbClr val="FFFFFF"/>
                </a:solidFill>
              </a:defRPr>
            </a:pPr>
            <a:r>
              <a:t>Getting Started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Quick Start</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1. Clone &amp; Install</a:t>
            </a:r>
          </a:p>
          <a:p>
            <a:pPr>
              <a:spcBef>
                <a:spcPts val="800"/>
              </a:spcBef>
              <a:defRPr sz="1200">
                <a:solidFill>
                  <a:srgbClr val="1F2937"/>
                </a:solidFill>
                <a:latin typeface="Courier New"/>
              </a:defRPr>
            </a:pPr>
            <a:r>
              <a:t>git clone https://github.com/yourusername/ai-workflow.git</a:t>
            </a:r>
            <a:br/>
            <a:r>
              <a:t>cd ai-workflow</a:t>
            </a:r>
            <a:br/>
            <a:r>
              <a:t>uv venv &amp;&amp; uv pip install -e .</a:t>
            </a:r>
          </a:p>
          <a:p>
            <a:pPr>
              <a:spcBef>
                <a:spcPts val="1200"/>
              </a:spcBef>
              <a:spcAft>
                <a:spcPts val="400"/>
              </a:spcAft>
              <a:defRPr sz="2000" b="1">
                <a:solidFill>
                  <a:srgbClr val="8B5CF6"/>
                </a:solidFill>
              </a:defRPr>
            </a:pPr>
            <a:r>
              <a:t>2. Configure Cursor</a:t>
            </a:r>
          </a:p>
          <a:p>
            <a:pPr>
              <a:spcBef>
                <a:spcPts val="800"/>
              </a:spcBef>
              <a:defRPr sz="1200">
                <a:solidFill>
                  <a:srgbClr val="1F2937"/>
                </a:solidFill>
                <a:latin typeface="Courier New"/>
              </a:defRPr>
            </a:pPr>
            <a:r>
              <a:t>{</a:t>
            </a:r>
            <a:br/>
            <a:r>
              <a:t>  "mcpServers": {</a:t>
            </a:r>
            <a:br/>
            <a:r>
              <a:t>    "aa_workflow": {</a:t>
            </a:r>
            <a:br/>
            <a:r>
              <a:t>      "command": "bash",</a:t>
            </a:r>
            <a:br/>
            <a:r>
              <a:t>      "args": ["-c", "cd ~/src/ai-workflow &amp;&amp; source .venv/bin/activate &amp;&amp; python3 -m server"]</a:t>
            </a:r>
            <a:br/>
            <a:r>
              <a:t>    }</a:t>
            </a:r>
            <a:br/>
            <a:r>
              <a:t>  }</a:t>
            </a:r>
            <a:br/>
            <a:r>
              <a:t>}</a:t>
            </a:r>
          </a:p>
          <a:p>
            <a:pPr>
              <a:spcBef>
                <a:spcPts val="1200"/>
              </a:spcBef>
              <a:spcAft>
                <a:spcPts val="400"/>
              </a:spcAft>
              <a:defRPr sz="2000" b="1">
                <a:solidFill>
                  <a:srgbClr val="8B5CF6"/>
                </a:solidFill>
              </a:defRPr>
            </a:pPr>
            <a:r>
              <a:t>3. Start Session</a:t>
            </a:r>
          </a:p>
          <a:p>
            <a:pPr>
              <a:spcBef>
                <a:spcPts val="800"/>
              </a:spcBef>
              <a:defRPr sz="1200">
                <a:solidFill>
                  <a:srgbClr val="1F2937"/>
                </a:solidFill>
                <a:latin typeface="Courier New"/>
              </a:defRPr>
            </a:pPr>
            <a:r>
              <a:t>You: session_start(agent="developer")</a:t>
            </a:r>
            <a:br/>
            <a:br/>
            <a:r>
              <a:t>Claude: 👨‍💻 Developer persona loaded with ~78 tools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Daily Workflow</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Morning</a:t>
            </a:r>
          </a:p>
          <a:p>
            <a:pPr>
              <a:spcBef>
                <a:spcPts val="800"/>
              </a:spcBef>
              <a:defRPr sz="1200">
                <a:solidFill>
                  <a:srgbClr val="1F2937"/>
                </a:solidFill>
                <a:latin typeface="Courier New"/>
              </a:defRPr>
            </a:pPr>
            <a:r>
              <a:t>/coffee</a:t>
            </a:r>
          </a:p>
          <a:p>
            <a:pPr>
              <a:spcBef>
                <a:spcPts val="1200"/>
              </a:spcBef>
              <a:spcAft>
                <a:spcPts val="400"/>
              </a:spcAft>
              <a:defRPr sz="2000" b="1">
                <a:solidFill>
                  <a:srgbClr val="8B5CF6"/>
                </a:solidFill>
              </a:defRPr>
            </a:pPr>
            <a:r>
              <a:t>Start Work</a:t>
            </a:r>
          </a:p>
          <a:p>
            <a:pPr>
              <a:spcBef>
                <a:spcPts val="800"/>
              </a:spcBef>
              <a:defRPr sz="1200">
                <a:solidFill>
                  <a:srgbClr val="1F2937"/>
                </a:solidFill>
                <a:latin typeface="Courier New"/>
              </a:defRPr>
            </a:pPr>
            <a:r>
              <a:t>/start-work AAP-12345</a:t>
            </a:r>
          </a:p>
          <a:p>
            <a:pPr>
              <a:spcBef>
                <a:spcPts val="1200"/>
              </a:spcBef>
              <a:spcAft>
                <a:spcPts val="400"/>
              </a:spcAft>
              <a:defRPr sz="2000" b="1">
                <a:solidFill>
                  <a:srgbClr val="8B5CF6"/>
                </a:solidFill>
              </a:defRPr>
            </a:pPr>
            <a:r>
              <a:t>Submit Code</a:t>
            </a:r>
          </a:p>
          <a:p>
            <a:pPr>
              <a:spcBef>
                <a:spcPts val="800"/>
              </a:spcBef>
              <a:defRPr sz="1200">
                <a:solidFill>
                  <a:srgbClr val="1F2937"/>
                </a:solidFill>
                <a:latin typeface="Courier New"/>
              </a:defRPr>
            </a:pPr>
            <a:r>
              <a:t>/create-mr</a:t>
            </a:r>
          </a:p>
          <a:p>
            <a:pPr>
              <a:spcBef>
                <a:spcPts val="1200"/>
              </a:spcBef>
              <a:spcAft>
                <a:spcPts val="400"/>
              </a:spcAft>
              <a:defRPr sz="2000" b="1">
                <a:solidFill>
                  <a:srgbClr val="8B5CF6"/>
                </a:solidFill>
              </a:defRPr>
            </a:pPr>
            <a:r>
              <a:t>End of Day</a:t>
            </a:r>
          </a:p>
          <a:p>
            <a:pPr>
              <a:spcBef>
                <a:spcPts val="800"/>
              </a:spcBef>
              <a:defRPr sz="1200">
                <a:solidFill>
                  <a:srgbClr val="1F2937"/>
                </a:solidFill>
                <a:latin typeface="Courier New"/>
              </a:defRPr>
            </a:pPr>
            <a:r>
              <a:t>/beer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square">
            <a:spAutoFit/>
          </a:bodyPr>
          <a:lstStyle/>
          <a:p>
            <a:pPr>
              <a:defRPr sz="3600" b="1">
                <a:solidFill>
                  <a:srgbClr val="6366F1"/>
                </a:solidFill>
              </a:defRPr>
            </a:pPr>
            <a:r>
              <a:t>Resources</a:t>
            </a:r>
          </a:p>
        </p:txBody>
      </p:sp>
      <p:sp>
        <p:nvSpPr>
          <p:cNvPr id="3" name="TextBox 2"/>
          <p:cNvSpPr txBox="1"/>
          <p:nvPr/>
        </p:nvSpPr>
        <p:spPr>
          <a:xfrm>
            <a:off x="457200" y="1097280"/>
            <a:ext cx="11277295" cy="5029200"/>
          </a:xfrm>
          <a:prstGeom prst="rect">
            <a:avLst/>
          </a:prstGeom>
          <a:noFill/>
        </p:spPr>
        <p:txBody>
          <a:bodyPr wrap="square">
            <a:spAutoFit/>
          </a:bodyPr>
          <a:lstStyle/>
          <a:p>
            <a:pPr>
              <a:spcBef>
                <a:spcPts val="1200"/>
              </a:spcBef>
              <a:spcAft>
                <a:spcPts val="400"/>
              </a:spcAft>
              <a:defRPr sz="2000" b="1">
                <a:solidFill>
                  <a:srgbClr val="8B5CF6"/>
                </a:solidFill>
              </a:defRPr>
            </a:pPr>
            <a:r>
              <a:t>Documentation</a:t>
            </a:r>
          </a:p>
          <a:p>
            <a:pPr>
              <a:spcAft>
                <a:spcPts val="800"/>
              </a:spcAft>
              <a:defRPr sz="1800">
                <a:solidFill>
                  <a:srgbClr val="1F2937"/>
                </a:solidFill>
              </a:defRPr>
            </a:pPr>
            <a:r>
              <a:t>• 📖 README - Getting started guide</a:t>
            </a:r>
          </a:p>
          <a:p>
            <a:pPr>
              <a:spcAft>
                <a:spcPts val="800"/>
              </a:spcAft>
              <a:defRPr sz="1800">
                <a:solidFill>
                  <a:srgbClr val="1F2937"/>
                </a:solidFill>
              </a:defRPr>
            </a:pPr>
            <a:r>
              <a:t>• ⚡ Skills Reference - All 55 skills</a:t>
            </a:r>
          </a:p>
          <a:p>
            <a:pPr>
              <a:spcAft>
                <a:spcPts val="800"/>
              </a:spcAft>
              <a:defRPr sz="1800">
                <a:solidFill>
                  <a:srgbClr val="1F2937"/>
                </a:solidFill>
              </a:defRPr>
            </a:pPr>
            <a:r>
              <a:t>• 🎭 Personas Reference - Tool profiles</a:t>
            </a:r>
          </a:p>
          <a:p>
            <a:pPr>
              <a:spcAft>
                <a:spcPts val="800"/>
              </a:spcAft>
              <a:defRPr sz="1800">
                <a:solidFill>
                  <a:srgbClr val="1F2937"/>
                </a:solidFill>
              </a:defRPr>
            </a:pPr>
            <a:r>
              <a:t>• 🔧 Tool Modules - 263 tools documented</a:t>
            </a:r>
          </a:p>
          <a:p>
            <a:pPr>
              <a:spcAft>
                <a:spcPts val="800"/>
              </a:spcAft>
              <a:defRPr sz="1800">
                <a:solidFill>
                  <a:srgbClr val="1F2937"/>
                </a:solidFill>
              </a:defRPr>
            </a:pPr>
            <a:r>
              <a:t>• 📚 Commands Reference - 66 slash commands</a:t>
            </a:r>
          </a:p>
          <a:p>
            <a:pPr>
              <a:spcBef>
                <a:spcPts val="1200"/>
              </a:spcBef>
              <a:spcAft>
                <a:spcPts val="400"/>
              </a:spcAft>
              <a:defRPr sz="2000" b="1">
                <a:solidFill>
                  <a:srgbClr val="8B5CF6"/>
                </a:solidFill>
              </a:defRPr>
            </a:pPr>
            <a:r>
              <a:t>Key Files</a:t>
            </a:r>
          </a:p>
          <a:p>
            <a:pPr>
              <a:spcAft>
                <a:spcPts val="800"/>
              </a:spcAft>
              <a:defRPr sz="1800">
                <a:solidFill>
                  <a:srgbClr val="1F2937"/>
                </a:solidFill>
              </a:defRPr>
            </a:pPr>
            <a:r>
              <a:t>• `CLAUDE.md` - AI context file (what Claude reads)</a:t>
            </a:r>
          </a:p>
          <a:p>
            <a:pPr>
              <a:spcAft>
                <a:spcPts val="800"/>
              </a:spcAft>
              <a:defRPr sz="1800">
                <a:solidFill>
                  <a:srgbClr val="1F2937"/>
                </a:solidFill>
              </a:defRPr>
            </a:pPr>
            <a:r>
              <a:t>• `config.json` - Configuration</a:t>
            </a:r>
          </a:p>
          <a:p>
            <a:pPr>
              <a:spcAft>
                <a:spcPts val="800"/>
              </a:spcAft>
              <a:defRPr sz="1800">
                <a:solidFill>
                  <a:srgbClr val="1F2937"/>
                </a:solidFill>
              </a:defRPr>
            </a:pPr>
            <a:r>
              <a:t>• `memory/` - Persistent state</a:t>
            </a:r>
          </a:p>
          <a:p>
            <a:pPr>
              <a:spcAft>
                <a:spcPts val="800"/>
              </a:spcAft>
              <a:defRPr sz="1800">
                <a:solidFill>
                  <a:srgbClr val="1F2937"/>
                </a:solidFill>
              </a:defRPr>
            </a:pPr>
            <a:r>
              <a:t>• Slack: #aa-api-team</a:t>
            </a:r>
          </a:p>
          <a:p>
            <a:pPr>
              <a:spcAft>
                <a:spcPts val="800"/>
              </a:spcAft>
              <a:defRPr sz="1800">
                <a:solidFill>
                  <a:srgbClr val="1F2937"/>
                </a:solidFill>
              </a:defRPr>
            </a:pPr>
            <a:r>
              <a:t>• Issues: GitLab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